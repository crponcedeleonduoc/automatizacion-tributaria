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8" r:id="rId8"/>
    <p:sldId id="259" r:id="rId9"/>
    <p:sldId id="264" r:id="rId14"/>
    <p:sldId id="265" r:id="rId15"/>
    <p:sldId id="260" r:id="rId10"/>
    <p:sldId id="266" r:id="rId16"/>
    <p:sldId id="262" r:id="rId12"/>
    <p:sldId id="263" r:id="rId13"/>
    <p:sldId id="267" r:id="rId17"/>
  </p:sldIdLst>
  <p:sldSz cx="18288000" cy="10287000"/>
  <p:notesSz cx="6858000" cy="9144000"/>
  <p:embeddedFontLst>
    <p:embeddedFont>
      <p:font typeface="Raleway 1 Heavy" charset="1" panose="00000000000000000000"/>
      <p:regular r:id="rId18"/>
    </p:embeddedFont>
    <p:embeddedFont>
      <p:font typeface="Libre Baskerville Italics" charset="1" panose="02000000000000000000"/>
      <p:regular r:id="rId19"/>
    </p:embeddedFont>
    <p:embeddedFont>
      <p:font typeface="Raleway 2 Bold" charset="1" panose="020B0803030101060003"/>
      <p:regular r:id="rId20"/>
    </p:embeddedFont>
    <p:embeddedFont>
      <p:font typeface="Raleway 1 Bold" charset="1" panose="00000000000000000000"/>
      <p:regular r:id="rId21"/>
    </p:embeddedFont>
    <p:embeddedFont>
      <p:font typeface="Raleway 2" charset="1" panose="020B0503030101060003"/>
      <p:regular r:id="rId22"/>
    </p:embeddedFont>
    <p:embeddedFont>
      <p:font typeface="Raleway 1 Bold Italics"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7.xml"/><Relationship Id="rId17" Type="http://schemas.openxmlformats.org/officeDocument/2006/relationships/slide" Target="slides/slide10.xml"/><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Nuestro proyecto se llama aSIIstente. Es un sistema web que automatiza la obtención y consolidación de la información tributaria de un grupo de doce sociedades ante el SII y la Tesorería. Somos Cristóbal Ponce de León y Valeria Gómez.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Partamos por el problema. La ley obliga a cada contribuyente a mantener al día tres cosas: el Registro de Compras y Ventas, el Formulario 29 y su deuda ante la Tesorería. Hoy todo eso se saca a mano, entrando al portal con cada RUT y descargando archivo por archivo, mes a mes. Consume horas y cualquier omisión se traduce en multas.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obvia es por qué no se automatiza. La respuesta es que el SII no ofrece una API pública de consulta. Los servicios web que tiene apuntan a quienes emiten factura electrónica: sirven para emitir documentos, no para consultar. Para el Registro de Compras y Ventas no hay endpoint documentado. Y lo que sí existe exige certificado digital, con costo y renovación por cada RUT. La mejor prueba de la brecha es que existe un mercado de empresas que cobra por darte acceso a tu propia información tributaria.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acá está el punto que hace interesante nuestro caso. Todo el modelo de acceso del SII está pensado para un contribuyente a la vez: una sesión, una clave, un certificado. Para una empresa sola funciona. Nuestro grupo tiene doce entidades, así que el cierre mensual es repetir el mismo procedimiento doce veces y después consolidar planillas a mano.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proponemos es esto. A la izquierda, con aSIIstente: una sola ejecución trae y consolida el RCV y los F29 de las doce entidades, cada descarga queda archivada con su fecha, y todo se opera desde una aplicación web. A la derecha, cómo se hace hoy. La diferencia no es sólo velocidad: es que la consolidación deja de ser un trabajo posterior y pasa a ser parte de la extracción.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tiene cuatro bloques. El motor de extracción se autentica ante cada organismo y baja los documentos. La capa de datos guarda el histórico en un modelo relacional y conserva los archivos originales. La aplicación web permite lanzar, monitorear y consultar. Y el módulo de seguridad resguarda las credenciales en una bóveda cifrada y avisa ante variaciones de deuda o fallos.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está abajo a la derecha. Los específicos son estos cinco: requisitos y diseño, los módulos de extracción del SII y la TGR, la persistencia, la aplicación web con la seguridad de credenciales, y la validación con documentación. Cada uno tiene un responsable y una ventana en el plan de trabajo.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Trabajamos de forma iterativa e incremental, en ciclos de dos semanas, con un incremento ejecutable al cierre de cada ciclo. Las etapas son las cuatro que ven. En cuanto al equipo, yo tomo el backend y la seguridad, y Valeria la capa de datos y el frontend. Trabajamos sobre módulos separados para no editar los mismos archivos, y nos revisamos el código antes de integrar.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plan por semanas. Vale la pena notar que la base de datos puede avanzar sobre datos ya descargados, así que no queda bloqueada por el módulo de extracción. Abajo a la izquierda están las evidencias que comprometemos: de avance, el documento de requisitos y arquitectura más la bitácora con el código; finales, la aplicación funcionando con demostración en video y el informe técnico con manual de operación.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resumen: el acceso a la información tributaria propia sigue siendo manual y pensado para un contribuyente a la vez. aSIIstente lo automatiza y lo consolida para un grupo completo. Quedo atento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image" Target="../media/image23.png"/><Relationship Id="rId7" Type="http://schemas.openxmlformats.org/officeDocument/2006/relationships/image" Target="../media/image24.sv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notesSlide" Target="../notesSlides/notesSlide10.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923329">
            <a:off x="9266549" y="-1402179"/>
            <a:ext cx="7327457" cy="13757112"/>
            <a:chOff x="0" y="0"/>
            <a:chExt cx="9769943" cy="18342817"/>
          </a:xfrm>
        </p:grpSpPr>
        <p:pic>
          <p:nvPicPr>
            <p:cNvPr name="Picture 3" id="3"/>
            <p:cNvPicPr>
              <a:picLocks noChangeAspect="true"/>
            </p:cNvPicPr>
            <p:nvPr/>
          </p:nvPicPr>
          <p:blipFill>
            <a:blip r:embed="rId2"/>
            <a:srcRect l="32245" t="0" r="32245" b="0"/>
            <a:stretch>
              <a:fillRect/>
            </a:stretch>
          </p:blipFill>
          <p:spPr>
            <a:xfrm flipH="false" flipV="false">
              <a:off x="0" y="0"/>
              <a:ext cx="9769943" cy="18342817"/>
            </a:xfrm>
            <a:prstGeom prst="rect">
              <a:avLst/>
            </a:prstGeom>
          </p:spPr>
        </p:pic>
      </p:grpSp>
      <p:grpSp>
        <p:nvGrpSpPr>
          <p:cNvPr name="Group 4" id="4"/>
          <p:cNvGrpSpPr/>
          <p:nvPr/>
        </p:nvGrpSpPr>
        <p:grpSpPr>
          <a:xfrm rot="5400000">
            <a:off x="13333728" y="2586781"/>
            <a:ext cx="5032161" cy="5187702"/>
            <a:chOff x="0" y="0"/>
            <a:chExt cx="6709548" cy="6916936"/>
          </a:xfrm>
        </p:grpSpPr>
        <p:sp>
          <p:nvSpPr>
            <p:cNvPr name="AutoShape 5" id="5"/>
            <p:cNvSpPr/>
            <p:nvPr/>
          </p:nvSpPr>
          <p:spPr>
            <a:xfrm>
              <a:off x="0" y="0"/>
              <a:ext cx="6709548" cy="6916936"/>
            </a:xfrm>
            <a:prstGeom prst="rect">
              <a:avLst/>
            </a:prstGeom>
            <a:solidFill>
              <a:srgbClr val="004AAD"/>
            </a:solidFill>
          </p:spPr>
        </p:sp>
      </p:grpSp>
      <p:sp>
        <p:nvSpPr>
          <p:cNvPr name="Freeform 8" id="8"/>
          <p:cNvSpPr/>
          <p:nvPr/>
        </p:nvSpPr>
        <p:spPr>
          <a:xfrm flipH="false" flipV="false" rot="0">
            <a:off x="13884866" y="3588041"/>
            <a:ext cx="3929884" cy="3358265"/>
          </a:xfrm>
          <a:custGeom>
            <a:avLst/>
            <a:gdLst/>
            <a:ahLst/>
            <a:cxnLst/>
            <a:rect r="r" b="b" t="t" l="l"/>
            <a:pathLst>
              <a:path h="3358265" w="3929884">
                <a:moveTo>
                  <a:pt x="0" y="0"/>
                </a:moveTo>
                <a:lnTo>
                  <a:pt x="3929884" y="0"/>
                </a:lnTo>
                <a:lnTo>
                  <a:pt x="3929884" y="3358265"/>
                </a:lnTo>
                <a:lnTo>
                  <a:pt x="0" y="33582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320173" y="6077271"/>
            <a:ext cx="7573534" cy="2040632"/>
          </a:xfrm>
          <a:prstGeom prst="rect">
            <a:avLst/>
          </a:prstGeom>
        </p:spPr>
        <p:txBody>
          <a:bodyPr anchor="t" rtlCol="false" tIns="0" lIns="0" bIns="0" rIns="0">
            <a:spAutoFit/>
          </a:bodyPr>
          <a:lstStyle/>
          <a:p>
            <a:pPr algn="l">
              <a:lnSpc>
                <a:spcPts val="8080"/>
              </a:lnSpc>
            </a:pPr>
            <a:r>
              <a:rPr lang="en-US" b="true" sz="6622" spc="33">
                <a:solidFill>
                  <a:srgbClr val="000000"/>
                </a:solidFill>
                <a:latin typeface="Raleway 1 Heavy"/>
                <a:ea typeface="Raleway 1 Heavy"/>
                <a:cs typeface="Raleway 1 Heavy"/>
                <a:sym typeface="Raleway 1 Heavy"/>
              </a:rPr>
              <a:t>aSIIstente</a:t>
            </a:r>
          </a:p>
        </p:txBody>
      </p:sp>
      <p:sp>
        <p:nvSpPr>
          <p:cNvPr name="TextBox 11" id="11"/>
          <p:cNvSpPr txBox="true"/>
          <p:nvPr/>
        </p:nvSpPr>
        <p:spPr>
          <a:xfrm rot="0">
            <a:off x="1280160" y="8491337"/>
            <a:ext cx="8686800" cy="381455"/>
          </a:xfrm>
          <a:prstGeom prst="rect">
            <a:avLst/>
          </a:prstGeom>
        </p:spPr>
        <p:txBody>
          <a:bodyPr anchor="t" rtlCol="false" tIns="0" lIns="0" bIns="0" rIns="0">
            <a:spAutoFit/>
          </a:bodyPr>
          <a:lstStyle/>
          <a:p>
            <a:pPr algn="l">
              <a:lnSpc>
                <a:spcPts val="3077"/>
              </a:lnSpc>
            </a:pPr>
            <a:r>
              <a:rPr lang="en-US" sz="2442" i="true" spc="12">
                <a:solidFill>
                  <a:srgbClr val="000000"/>
                </a:solidFill>
                <a:latin typeface="Libre Baskerville Italics"/>
                <a:ea typeface="Libre Baskerville Italics"/>
                <a:cs typeface="Libre Baskerville Italics"/>
                <a:sym typeface="Libre Baskerville Italics"/>
              </a:rPr>
              <a:t>Cristóbal Ponce de León y Valeria Gómez · Duoc UC, Sede Alameda · 2026-2</a:t>
            </a:r>
          </a:p>
        </p:txBody>
      </p:sp>
      <p:sp>
        <p:nvSpPr>
          <p:cNvPr name="TextBox 12" id="12"/>
          <p:cNvSpPr txBox="true"/>
          <p:nvPr/>
        </p:nvSpPr>
        <p:spPr>
          <a:xfrm rot="0">
            <a:off x="1320173" y="5257649"/>
            <a:ext cx="6869535" cy="457200"/>
          </a:xfrm>
          <a:prstGeom prst="rect">
            <a:avLst/>
          </a:prstGeom>
        </p:spPr>
        <p:txBody>
          <a:bodyPr anchor="t" rtlCol="false" tIns="0" lIns="0" bIns="0" rIns="0">
            <a:spAutoFit/>
          </a:bodyPr>
          <a:lstStyle/>
          <a:p>
            <a:pPr algn="l">
              <a:lnSpc>
                <a:spcPts val="3581"/>
              </a:lnSpc>
            </a:pPr>
            <a:r>
              <a:rPr lang="en-US" b="true" sz="2984" i="true">
                <a:solidFill>
                  <a:srgbClr val="000000"/>
                </a:solidFill>
                <a:latin typeface="Raleway 2 Bold"/>
                <a:ea typeface="Raleway 2 Bold"/>
                <a:cs typeface="Raleway 2 Bold"/>
                <a:sym typeface="Raleway 2 Bold"/>
              </a:rPr>
              <a:t>Portafolio de Título · Fase 1</a:t>
            </a:r>
          </a:p>
        </p:txBody>
      </p:sp>
      <p:pic>
        <p:nvPicPr>
          <p:cNvPr id="13" name="Picture 12" descr="logo.png"/>
          <p:cNvPicPr>
            <a:picLocks noChangeAspect="1"/>
          </p:cNvPicPr>
          <p:nvPr/>
        </p:nvPicPr>
        <p:blipFill>
          <a:blip r:embed="rId7"/>
          <a:stretch>
            <a:fillRect/>
          </a:stretch>
        </p:blipFill>
        <p:spPr>
          <a:xfrm>
            <a:off x="1280160" y="2743200"/>
            <a:ext cx="2377440" cy="1335024"/>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923329">
            <a:off x="-4999674" y="-1920329"/>
            <a:ext cx="7327457" cy="13757112"/>
            <a:chOff x="0" y="0"/>
            <a:chExt cx="9769943" cy="18342817"/>
          </a:xfrm>
        </p:grpSpPr>
        <p:pic>
          <p:nvPicPr>
            <p:cNvPr name="Picture 3" id="3"/>
            <p:cNvPicPr>
              <a:picLocks noChangeAspect="true"/>
            </p:cNvPicPr>
            <p:nvPr/>
          </p:nvPicPr>
          <p:blipFill>
            <a:blip r:embed="rId2"/>
            <a:srcRect l="0" t="0" r="60052" b="0"/>
            <a:stretch>
              <a:fillRect/>
            </a:stretch>
          </p:blipFill>
          <p:spPr>
            <a:xfrm flipH="false" flipV="false">
              <a:off x="0" y="0"/>
              <a:ext cx="9769943" cy="18342817"/>
            </a:xfrm>
            <a:prstGeom prst="rect">
              <a:avLst/>
            </a:prstGeom>
          </p:spPr>
        </p:pic>
      </p:grpSp>
      <p:grpSp>
        <p:nvGrpSpPr>
          <p:cNvPr name="Group 4" id="4"/>
          <p:cNvGrpSpPr/>
          <p:nvPr/>
        </p:nvGrpSpPr>
        <p:grpSpPr>
          <a:xfrm rot="0">
            <a:off x="9144000" y="5666079"/>
            <a:ext cx="7312691" cy="3592221"/>
            <a:chOff x="0" y="0"/>
            <a:chExt cx="9750255" cy="4789628"/>
          </a:xfrm>
        </p:grpSpPr>
        <p:pic>
          <p:nvPicPr>
            <p:cNvPr name="Picture 5" id="5"/>
            <p:cNvPicPr>
              <a:picLocks noChangeAspect="true"/>
            </p:cNvPicPr>
            <p:nvPr/>
          </p:nvPicPr>
          <p:blipFill>
            <a:blip r:embed="rId3"/>
            <a:srcRect l="0" t="17251" r="0" b="17251"/>
            <a:stretch>
              <a:fillRect/>
            </a:stretch>
          </p:blipFill>
          <p:spPr>
            <a:xfrm flipH="false" flipV="false">
              <a:off x="0" y="0"/>
              <a:ext cx="9750255" cy="4789628"/>
            </a:xfrm>
            <a:prstGeom prst="rect">
              <a:avLst/>
            </a:prstGeom>
          </p:spPr>
        </p:pic>
      </p:grpSp>
      <p:grpSp>
        <p:nvGrpSpPr>
          <p:cNvPr name="Group 9" id="9"/>
          <p:cNvGrpSpPr/>
          <p:nvPr/>
        </p:nvGrpSpPr>
        <p:grpSpPr>
          <a:xfrm rot="-5400000">
            <a:off x="2888935" y="3805844"/>
            <a:ext cx="3592221" cy="7312691"/>
            <a:chOff x="0" y="0"/>
            <a:chExt cx="946099" cy="1925976"/>
          </a:xfrm>
        </p:grpSpPr>
        <p:sp>
          <p:nvSpPr>
            <p:cNvPr name="Freeform 10" id="10"/>
            <p:cNvSpPr/>
            <p:nvPr/>
          </p:nvSpPr>
          <p:spPr>
            <a:xfrm flipH="false" flipV="false" rot="0">
              <a:off x="0" y="0"/>
              <a:ext cx="946099" cy="1925976"/>
            </a:xfrm>
            <a:custGeom>
              <a:avLst/>
              <a:gdLst/>
              <a:ahLst/>
              <a:cxnLst/>
              <a:rect r="r" b="b" t="t" l="l"/>
              <a:pathLst>
                <a:path h="1925976" w="946099">
                  <a:moveTo>
                    <a:pt x="0" y="0"/>
                  </a:moveTo>
                  <a:lnTo>
                    <a:pt x="946099" y="0"/>
                  </a:lnTo>
                  <a:lnTo>
                    <a:pt x="946099" y="1925976"/>
                  </a:lnTo>
                  <a:lnTo>
                    <a:pt x="0" y="1925976"/>
                  </a:lnTo>
                  <a:close/>
                </a:path>
              </a:pathLst>
            </a:custGeom>
            <a:solidFill>
              <a:srgbClr val="004AAD"/>
            </a:solidFill>
          </p:spPr>
        </p:sp>
        <p:sp>
          <p:nvSpPr>
            <p:cNvPr name="TextBox 11" id="11"/>
            <p:cNvSpPr txBox="true"/>
            <p:nvPr/>
          </p:nvSpPr>
          <p:spPr>
            <a:xfrm>
              <a:off x="0" y="-9525"/>
              <a:ext cx="946099" cy="1935501"/>
            </a:xfrm>
            <a:prstGeom prst="rect">
              <a:avLst/>
            </a:prstGeom>
          </p:spPr>
          <p:txBody>
            <a:bodyPr anchor="ctr" rtlCol="false" tIns="50800" lIns="50800" bIns="50800" rIns="50800"/>
            <a:lstStyle/>
            <a:p>
              <a:pPr algn="ctr">
                <a:lnSpc>
                  <a:spcPts val="3077"/>
                </a:lnSpc>
              </a:pPr>
            </a:p>
          </p:txBody>
        </p:sp>
      </p:grpSp>
      <p:sp>
        <p:nvSpPr>
          <p:cNvPr name="TextBox 12" id="12"/>
          <p:cNvSpPr txBox="true"/>
          <p:nvPr/>
        </p:nvSpPr>
        <p:spPr>
          <a:xfrm rot="0">
            <a:off x="9144000" y="1084959"/>
            <a:ext cx="7106960" cy="862258"/>
          </a:xfrm>
          <a:prstGeom prst="rect">
            <a:avLst/>
          </a:prstGeom>
        </p:spPr>
        <p:txBody>
          <a:bodyPr anchor="t" rtlCol="false" tIns="0" lIns="0" bIns="0" rIns="0">
            <a:spAutoFit/>
          </a:bodyPr>
          <a:lstStyle/>
          <a:p>
            <a:pPr algn="l" marL="0" indent="0" lvl="0">
              <a:lnSpc>
                <a:spcPts val="6738"/>
              </a:lnSpc>
              <a:spcBef>
                <a:spcPct val="0"/>
              </a:spcBef>
            </a:pPr>
            <a:r>
              <a:rPr lang="en-US" b="true" sz="5523" spc="27" u="none">
                <a:solidFill>
                  <a:srgbClr val="000000"/>
                </a:solidFill>
                <a:latin typeface="Raleway 1 Bold"/>
                <a:ea typeface="Raleway 1 Bold"/>
                <a:cs typeface="Raleway 1 Bold"/>
                <a:sym typeface="Raleway 1 Bold"/>
              </a:rPr>
              <a:t>EL PROBLEMA</a:t>
            </a:r>
          </a:p>
        </p:txBody>
      </p:sp>
      <p:sp>
        <p:nvSpPr>
          <p:cNvPr name="TextBox 13" id="13"/>
          <p:cNvSpPr txBox="true"/>
          <p:nvPr/>
        </p:nvSpPr>
        <p:spPr>
          <a:xfrm rot="0">
            <a:off x="1725544" y="6387769"/>
            <a:ext cx="5895757" cy="2091690"/>
          </a:xfrm>
          <a:prstGeom prst="rect">
            <a:avLst/>
          </a:prstGeom>
        </p:spPr>
        <p:txBody>
          <a:bodyPr anchor="t" rtlCol="false" tIns="0" lIns="0" bIns="0" rIns="0">
            <a:spAutoFit/>
          </a:bodyPr>
          <a:lstStyle/>
          <a:p>
            <a:pPr algn="l" marL="0" indent="0" lvl="0">
              <a:lnSpc>
                <a:spcPts val="3359"/>
              </a:lnSpc>
              <a:spcBef>
                <a:spcPct val="0"/>
              </a:spcBef>
            </a:pPr>
            <a:r>
              <a:rPr lang="en-US" b="true" sz="2399">
                <a:solidFill>
                  <a:srgbClr val="F6F6F6"/>
                </a:solidFill>
                <a:latin typeface="Raleway 2 Bold"/>
                <a:ea typeface="Raleway 2 Bold"/>
                <a:cs typeface="Raleway 2 Bold"/>
                <a:sym typeface="Raleway 2 Bold"/>
              </a:rPr>
              <a:t>Hoy eso se obtiene a mano: entrar al portal con cada RUT, navegar hasta cada informe y descargar cada archivo, por cada período y por cada empresa.</a:t>
            </a:r>
          </a:p>
        </p:txBody>
      </p:sp>
      <p:sp>
        <p:nvSpPr>
          <p:cNvPr name="TextBox 14" id="14"/>
          <p:cNvSpPr txBox="true"/>
          <p:nvPr/>
        </p:nvSpPr>
        <p:spPr>
          <a:xfrm rot="0">
            <a:off x="9144000" y="2385738"/>
            <a:ext cx="7272071" cy="246380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Cada contribuyente debe mantener actualizada ante el Estado una cantidad considerable de información: el Registro de Compras y Ventas que sustenta el IVA, las declaraciones mensuales del Formulario 29 y su situación de deuda ante la Tesorería General de la República. Conseguirla consume horas y es propensa a omisiones, que en materia tributaria se traducen en multas.</a:t>
            </a:r>
          </a:p>
        </p:txBody>
      </p:sp>
      <p:pic>
        <p:nvPicPr>
          <p:cNvPr id="15" name="Picture 14" descr="logo.png"/>
          <p:cNvPicPr>
            <a:picLocks noChangeAspect="1"/>
          </p:cNvPicPr>
          <p:nvPr/>
        </p:nvPicPr>
        <p:blipFill>
          <a:blip r:embed="rId6"/>
          <a:stretch>
            <a:fillRect/>
          </a:stretch>
        </p:blipFill>
        <p:spPr>
          <a:xfrm>
            <a:off x="914400" y="914400"/>
            <a:ext cx="2194560" cy="123444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5400000">
            <a:off x="1043930" y="4272777"/>
            <a:ext cx="985442" cy="1015902"/>
            <a:chOff x="0" y="0"/>
            <a:chExt cx="1313923" cy="1354535"/>
          </a:xfrm>
        </p:grpSpPr>
        <p:sp>
          <p:nvSpPr>
            <p:cNvPr name="AutoShape 3" id="3"/>
            <p:cNvSpPr/>
            <p:nvPr/>
          </p:nvSpPr>
          <p:spPr>
            <a:xfrm>
              <a:off x="0" y="0"/>
              <a:ext cx="1313923" cy="1354535"/>
            </a:xfrm>
            <a:prstGeom prst="rect">
              <a:avLst/>
            </a:prstGeom>
            <a:solidFill>
              <a:srgbClr val="004AAD"/>
            </a:solidFill>
          </p:spPr>
        </p:sp>
      </p:grpSp>
      <p:grpSp>
        <p:nvGrpSpPr>
          <p:cNvPr name="Group 4" id="4"/>
          <p:cNvGrpSpPr/>
          <p:nvPr/>
        </p:nvGrpSpPr>
        <p:grpSpPr>
          <a:xfrm rot="5400000">
            <a:off x="1043930" y="5813712"/>
            <a:ext cx="985442" cy="1015902"/>
            <a:chOff x="0" y="0"/>
            <a:chExt cx="1313923" cy="1354535"/>
          </a:xfrm>
        </p:grpSpPr>
        <p:sp>
          <p:nvSpPr>
            <p:cNvPr name="AutoShape 5" id="5"/>
            <p:cNvSpPr/>
            <p:nvPr/>
          </p:nvSpPr>
          <p:spPr>
            <a:xfrm>
              <a:off x="0" y="0"/>
              <a:ext cx="1313923" cy="1354535"/>
            </a:xfrm>
            <a:prstGeom prst="rect">
              <a:avLst/>
            </a:prstGeom>
            <a:solidFill>
              <a:srgbClr val="004AAD"/>
            </a:solidFill>
          </p:spPr>
        </p:sp>
      </p:grpSp>
      <p:grpSp>
        <p:nvGrpSpPr>
          <p:cNvPr name="Group 6" id="6"/>
          <p:cNvGrpSpPr/>
          <p:nvPr/>
        </p:nvGrpSpPr>
        <p:grpSpPr>
          <a:xfrm rot="9875703">
            <a:off x="15111177" y="-1633379"/>
            <a:ext cx="4981061" cy="12500685"/>
            <a:chOff x="0" y="0"/>
            <a:chExt cx="1311884" cy="3292362"/>
          </a:xfrm>
        </p:grpSpPr>
        <p:sp>
          <p:nvSpPr>
            <p:cNvPr name="Freeform 7" id="7"/>
            <p:cNvSpPr/>
            <p:nvPr/>
          </p:nvSpPr>
          <p:spPr>
            <a:xfrm flipH="false" flipV="false" rot="0">
              <a:off x="0" y="0"/>
              <a:ext cx="1311884" cy="3292361"/>
            </a:xfrm>
            <a:custGeom>
              <a:avLst/>
              <a:gdLst/>
              <a:ahLst/>
              <a:cxnLst/>
              <a:rect r="r" b="b" t="t" l="l"/>
              <a:pathLst>
                <a:path h="3292361" w="1311884">
                  <a:moveTo>
                    <a:pt x="0" y="0"/>
                  </a:moveTo>
                  <a:lnTo>
                    <a:pt x="1311884" y="0"/>
                  </a:lnTo>
                  <a:lnTo>
                    <a:pt x="1311884" y="3292361"/>
                  </a:lnTo>
                  <a:lnTo>
                    <a:pt x="0" y="3292361"/>
                  </a:lnTo>
                  <a:close/>
                </a:path>
              </a:pathLst>
            </a:custGeom>
            <a:solidFill>
              <a:srgbClr val="004AAD"/>
            </a:solidFill>
          </p:spPr>
        </p:sp>
        <p:sp>
          <p:nvSpPr>
            <p:cNvPr name="TextBox 8" id="8"/>
            <p:cNvSpPr txBox="true"/>
            <p:nvPr/>
          </p:nvSpPr>
          <p:spPr>
            <a:xfrm>
              <a:off x="0" y="-9525"/>
              <a:ext cx="1311884" cy="3301887"/>
            </a:xfrm>
            <a:prstGeom prst="rect">
              <a:avLst/>
            </a:prstGeom>
          </p:spPr>
          <p:txBody>
            <a:bodyPr anchor="ctr" rtlCol="false" tIns="50800" lIns="50800" bIns="50800" rIns="50800"/>
            <a:lstStyle/>
            <a:p>
              <a:pPr algn="ctr">
                <a:lnSpc>
                  <a:spcPts val="3077"/>
                </a:lnSpc>
              </a:pPr>
            </a:p>
          </p:txBody>
        </p:sp>
      </p:grpSp>
      <p:sp>
        <p:nvSpPr>
          <p:cNvPr name="TextBox 9" id="9"/>
          <p:cNvSpPr txBox="true"/>
          <p:nvPr/>
        </p:nvSpPr>
        <p:spPr>
          <a:xfrm rot="0">
            <a:off x="1028700" y="1879152"/>
            <a:ext cx="7106960" cy="1709969"/>
          </a:xfrm>
          <a:prstGeom prst="rect">
            <a:avLst/>
          </a:prstGeom>
        </p:spPr>
        <p:txBody>
          <a:bodyPr anchor="t" rtlCol="false" tIns="0" lIns="0" bIns="0" rIns="0">
            <a:spAutoFit/>
          </a:bodyPr>
          <a:lstStyle/>
          <a:p>
            <a:pPr algn="l" marL="0" indent="0" lvl="0">
              <a:lnSpc>
                <a:spcPts val="6738"/>
              </a:lnSpc>
            </a:pPr>
            <a:r>
              <a:rPr lang="en-US" b="true" sz="5523" spc="27">
                <a:solidFill>
                  <a:srgbClr val="000000"/>
                </a:solidFill>
                <a:latin typeface="Raleway 1 Bold"/>
                <a:ea typeface="Raleway 1 Bold"/>
                <a:cs typeface="Raleway 1 Bold"/>
                <a:sym typeface="Raleway 1 Bold"/>
              </a:rPr>
              <a:t>EL SII NO TIENE API</a:t>
            </a:r>
          </a:p>
        </p:txBody>
      </p:sp>
      <p:sp>
        <p:nvSpPr>
          <p:cNvPr name="TextBox 10" id="10"/>
          <p:cNvSpPr txBox="true"/>
          <p:nvPr/>
        </p:nvSpPr>
        <p:spPr>
          <a:xfrm rot="0">
            <a:off x="1329396" y="4236521"/>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1</a:t>
            </a:r>
          </a:p>
        </p:txBody>
      </p:sp>
      <p:sp>
        <p:nvSpPr>
          <p:cNvPr name="TextBox 11" id="11"/>
          <p:cNvSpPr txBox="true"/>
          <p:nvPr/>
        </p:nvSpPr>
        <p:spPr>
          <a:xfrm rot="0">
            <a:off x="1329396" y="5777456"/>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2</a:t>
            </a:r>
          </a:p>
        </p:txBody>
      </p:sp>
      <p:sp>
        <p:nvSpPr>
          <p:cNvPr name="TextBox 12" id="12"/>
          <p:cNvSpPr txBox="true"/>
          <p:nvPr/>
        </p:nvSpPr>
        <p:spPr>
          <a:xfrm rot="0">
            <a:off x="2630395" y="4240382"/>
            <a:ext cx="6648902" cy="105410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Los servicios web del SII están dirigidos a quienes emiten factura electrónica: sirven para emitir documentos, no para consultar la información acumulada de un contribuyente.</a:t>
            </a:r>
          </a:p>
        </p:txBody>
      </p:sp>
      <p:sp>
        <p:nvSpPr>
          <p:cNvPr name="TextBox 13" id="13"/>
          <p:cNvSpPr txBox="true"/>
          <p:nvPr/>
        </p:nvSpPr>
        <p:spPr>
          <a:xfrm rot="0">
            <a:off x="2630395" y="5781316"/>
            <a:ext cx="6648902" cy="105410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Para el Registro de Compras y Ventas no existe endpoint documentado. La vía oficial es descargar un archivo desde el portal: un contribuyente, un período, una descarga.</a:t>
            </a:r>
          </a:p>
        </p:txBody>
      </p:sp>
      <p:sp>
        <p:nvSpPr>
          <p:cNvPr name="Freeform 14" id="14"/>
          <p:cNvSpPr/>
          <p:nvPr/>
        </p:nvSpPr>
        <p:spPr>
          <a:xfrm flipH="false" flipV="false" rot="0">
            <a:off x="10338723" y="3439233"/>
            <a:ext cx="6920577" cy="5247056"/>
          </a:xfrm>
          <a:custGeom>
            <a:avLst/>
            <a:gdLst/>
            <a:ahLst/>
            <a:cxnLst/>
            <a:rect r="r" b="b" t="t" l="l"/>
            <a:pathLst>
              <a:path h="5247056" w="6920577">
                <a:moveTo>
                  <a:pt x="0" y="0"/>
                </a:moveTo>
                <a:lnTo>
                  <a:pt x="6920577" y="0"/>
                </a:lnTo>
                <a:lnTo>
                  <a:pt x="6920577" y="5247056"/>
                </a:lnTo>
                <a:lnTo>
                  <a:pt x="0" y="5247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5400000">
            <a:off x="1043930" y="7427804"/>
            <a:ext cx="985442" cy="1015902"/>
            <a:chOff x="0" y="0"/>
            <a:chExt cx="1313923" cy="1354535"/>
          </a:xfrm>
        </p:grpSpPr>
        <p:sp>
          <p:nvSpPr>
            <p:cNvPr name="AutoShape 16" id="16"/>
            <p:cNvSpPr/>
            <p:nvPr/>
          </p:nvSpPr>
          <p:spPr>
            <a:xfrm>
              <a:off x="0" y="0"/>
              <a:ext cx="1313923" cy="1354535"/>
            </a:xfrm>
            <a:prstGeom prst="rect">
              <a:avLst/>
            </a:prstGeom>
            <a:solidFill>
              <a:srgbClr val="004AAD"/>
            </a:solidFill>
          </p:spPr>
        </p:sp>
      </p:grpSp>
      <p:sp>
        <p:nvSpPr>
          <p:cNvPr name="TextBox 17" id="17"/>
          <p:cNvSpPr txBox="true"/>
          <p:nvPr/>
        </p:nvSpPr>
        <p:spPr>
          <a:xfrm rot="0">
            <a:off x="1329396" y="7319222"/>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3</a:t>
            </a:r>
          </a:p>
        </p:txBody>
      </p:sp>
      <p:sp>
        <p:nvSpPr>
          <p:cNvPr name="TextBox 18" id="18"/>
          <p:cNvSpPr txBox="true"/>
          <p:nvPr/>
        </p:nvSpPr>
        <p:spPr>
          <a:xfrm rot="0">
            <a:off x="2630395" y="7395409"/>
            <a:ext cx="6648902" cy="105410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Lo que sí existe exige certificado digital, con costo y renovación por cada RUT. Existe un mercado de intermediarios que cobra por dar acceso a la información tributaria propia.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6197518" y="2909041"/>
            <a:ext cx="5894255" cy="4468917"/>
          </a:xfrm>
          <a:custGeom>
            <a:avLst/>
            <a:gdLst/>
            <a:ahLst/>
            <a:cxnLst/>
            <a:rect r="r" b="b" t="t" l="l"/>
            <a:pathLst>
              <a:path h="4468917" w="5894255">
                <a:moveTo>
                  <a:pt x="0" y="0"/>
                </a:moveTo>
                <a:lnTo>
                  <a:pt x="5894255" y="0"/>
                </a:lnTo>
                <a:lnTo>
                  <a:pt x="5894255" y="4468918"/>
                </a:lnTo>
                <a:lnTo>
                  <a:pt x="0" y="44689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998003" y="3569043"/>
            <a:ext cx="3700810" cy="1675144"/>
            <a:chOff x="0" y="0"/>
            <a:chExt cx="974699" cy="441190"/>
          </a:xfrm>
        </p:grpSpPr>
        <p:sp>
          <p:nvSpPr>
            <p:cNvPr name="Freeform 4" id="4"/>
            <p:cNvSpPr/>
            <p:nvPr/>
          </p:nvSpPr>
          <p:spPr>
            <a:xfrm flipH="false" flipV="false" rot="0">
              <a:off x="0" y="0"/>
              <a:ext cx="974699" cy="441190"/>
            </a:xfrm>
            <a:custGeom>
              <a:avLst/>
              <a:gdLst/>
              <a:ahLst/>
              <a:cxnLst/>
              <a:rect r="r" b="b" t="t" l="l"/>
              <a:pathLst>
                <a:path h="441190" w="974699">
                  <a:moveTo>
                    <a:pt x="0" y="0"/>
                  </a:moveTo>
                  <a:lnTo>
                    <a:pt x="974699" y="0"/>
                  </a:lnTo>
                  <a:lnTo>
                    <a:pt x="974699" y="441190"/>
                  </a:lnTo>
                  <a:lnTo>
                    <a:pt x="0" y="441190"/>
                  </a:lnTo>
                  <a:close/>
                </a:path>
              </a:pathLst>
            </a:custGeom>
            <a:solidFill>
              <a:srgbClr val="004AAD">
                <a:alpha val="65882"/>
              </a:srgbClr>
            </a:solidFill>
            <a:ln cap="sq">
              <a:noFill/>
              <a:prstDash val="solid"/>
              <a:miter/>
            </a:ln>
          </p:spPr>
        </p:sp>
        <p:sp>
          <p:nvSpPr>
            <p:cNvPr name="TextBox 5" id="5"/>
            <p:cNvSpPr txBox="true"/>
            <p:nvPr/>
          </p:nvSpPr>
          <p:spPr>
            <a:xfrm>
              <a:off x="0" y="-9525"/>
              <a:ext cx="974699" cy="450715"/>
            </a:xfrm>
            <a:prstGeom prst="rect">
              <a:avLst/>
            </a:prstGeom>
          </p:spPr>
          <p:txBody>
            <a:bodyPr anchor="ctr" rtlCol="false" tIns="50800" lIns="50800" bIns="50800" rIns="50800"/>
            <a:lstStyle/>
            <a:p>
              <a:pPr algn="ctr" marL="0" indent="0" lvl="0">
                <a:lnSpc>
                  <a:spcPts val="3077"/>
                </a:lnSpc>
                <a:spcBef>
                  <a:spcPct val="0"/>
                </a:spcBef>
              </a:pPr>
            </a:p>
          </p:txBody>
        </p:sp>
      </p:grpSp>
      <p:grpSp>
        <p:nvGrpSpPr>
          <p:cNvPr name="Group 6" id="6"/>
          <p:cNvGrpSpPr/>
          <p:nvPr/>
        </p:nvGrpSpPr>
        <p:grpSpPr>
          <a:xfrm rot="0">
            <a:off x="6298203" y="3569043"/>
            <a:ext cx="1508280" cy="2981220"/>
            <a:chOff x="0" y="0"/>
            <a:chExt cx="397242" cy="785177"/>
          </a:xfrm>
        </p:grpSpPr>
        <p:sp>
          <p:nvSpPr>
            <p:cNvPr name="Freeform 7" id="7"/>
            <p:cNvSpPr/>
            <p:nvPr/>
          </p:nvSpPr>
          <p:spPr>
            <a:xfrm flipH="false" flipV="false" rot="0">
              <a:off x="0" y="0"/>
              <a:ext cx="397242" cy="785177"/>
            </a:xfrm>
            <a:custGeom>
              <a:avLst/>
              <a:gdLst/>
              <a:ahLst/>
              <a:cxnLst/>
              <a:rect r="r" b="b" t="t" l="l"/>
              <a:pathLst>
                <a:path h="785177" w="397242">
                  <a:moveTo>
                    <a:pt x="0" y="0"/>
                  </a:moveTo>
                  <a:lnTo>
                    <a:pt x="397242" y="0"/>
                  </a:lnTo>
                  <a:lnTo>
                    <a:pt x="397242" y="785177"/>
                  </a:lnTo>
                  <a:lnTo>
                    <a:pt x="0" y="785177"/>
                  </a:lnTo>
                  <a:close/>
                </a:path>
              </a:pathLst>
            </a:custGeom>
            <a:solidFill>
              <a:srgbClr val="004AAD">
                <a:alpha val="65882"/>
              </a:srgbClr>
            </a:solidFill>
            <a:ln cap="sq">
              <a:noFill/>
              <a:prstDash val="solid"/>
              <a:miter/>
            </a:ln>
          </p:spPr>
        </p:sp>
        <p:sp>
          <p:nvSpPr>
            <p:cNvPr name="TextBox 8" id="8"/>
            <p:cNvSpPr txBox="true"/>
            <p:nvPr/>
          </p:nvSpPr>
          <p:spPr>
            <a:xfrm>
              <a:off x="0" y="-9525"/>
              <a:ext cx="397242" cy="794702"/>
            </a:xfrm>
            <a:prstGeom prst="rect">
              <a:avLst/>
            </a:prstGeom>
          </p:spPr>
          <p:txBody>
            <a:bodyPr anchor="ctr" rtlCol="false" tIns="50800" lIns="50800" bIns="50800" rIns="50800"/>
            <a:lstStyle/>
            <a:p>
              <a:pPr algn="ctr" marL="0" indent="0" lvl="0">
                <a:lnSpc>
                  <a:spcPts val="3077"/>
                </a:lnSpc>
                <a:spcBef>
                  <a:spcPct val="0"/>
                </a:spcBef>
              </a:pPr>
            </a:p>
          </p:txBody>
        </p:sp>
      </p:grpSp>
      <p:sp>
        <p:nvSpPr>
          <p:cNvPr name="TextBox 9" id="9"/>
          <p:cNvSpPr txBox="true"/>
          <p:nvPr/>
        </p:nvSpPr>
        <p:spPr>
          <a:xfrm rot="0">
            <a:off x="13033457" y="3639225"/>
            <a:ext cx="4420267" cy="3521075"/>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El grupo de este proyecto tiene once personas jurídicas y una persona natural. El cierre mensual obliga a repetir el mismo procedimiento doce veces y deja planillas sueltas que alguien debe consolidar después.</a:t>
            </a:r>
          </a:p>
        </p:txBody>
      </p:sp>
      <p:sp>
        <p:nvSpPr>
          <p:cNvPr name="TextBox 10" id="10"/>
          <p:cNvSpPr txBox="true"/>
          <p:nvPr/>
        </p:nvSpPr>
        <p:spPr>
          <a:xfrm rot="0">
            <a:off x="834276" y="3639225"/>
            <a:ext cx="4420267" cy="3521075"/>
          </a:xfrm>
          <a:prstGeom prst="rect">
            <a:avLst/>
          </a:prstGeom>
        </p:spPr>
        <p:txBody>
          <a:bodyPr anchor="t" rtlCol="false" tIns="0" lIns="0" bIns="0" rIns="0">
            <a:spAutoFit/>
          </a:bodyPr>
          <a:lstStyle/>
          <a:p>
            <a:pPr algn="r" marL="0" indent="0" lvl="0">
              <a:lnSpc>
                <a:spcPts val="2799"/>
              </a:lnSpc>
              <a:spcBef>
                <a:spcPct val="0"/>
              </a:spcBef>
            </a:pPr>
            <a:r>
              <a:rPr lang="en-US" sz="1999">
                <a:solidFill>
                  <a:srgbClr val="000000"/>
                </a:solidFill>
                <a:latin typeface="Raleway 2"/>
                <a:ea typeface="Raleway 2"/>
                <a:cs typeface="Raleway 2"/>
                <a:sym typeface="Raleway 2"/>
              </a:rPr>
              <a:t>El modelo de acceso del SII está diseñado para un contribuyente a la vez: una sesión, una clave, un certificado, un período. Para una empresa sola, funciona.</a:t>
            </a:r>
          </a:p>
        </p:txBody>
      </p:sp>
      <p:sp>
        <p:nvSpPr>
          <p:cNvPr name="TextBox 11" id="11"/>
          <p:cNvSpPr txBox="true"/>
          <p:nvPr/>
        </p:nvSpPr>
        <p:spPr>
          <a:xfrm rot="0">
            <a:off x="822960" y="3069563"/>
            <a:ext cx="4389120" cy="448283"/>
          </a:xfrm>
          <a:prstGeom prst="rect">
            <a:avLst/>
          </a:prstGeom>
        </p:spPr>
        <p:txBody>
          <a:bodyPr anchor="t" rtlCol="false" tIns="0" lIns="0" bIns="0" rIns="0">
            <a:spAutoFit/>
          </a:bodyPr>
          <a:lstStyle/>
          <a:p>
            <a:pPr algn="r"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UN CONTRIBUYENTE</a:t>
            </a:r>
          </a:p>
        </p:txBody>
      </p:sp>
      <p:grpSp>
        <p:nvGrpSpPr>
          <p:cNvPr name="Group 12" id="12"/>
          <p:cNvGrpSpPr/>
          <p:nvPr/>
        </p:nvGrpSpPr>
        <p:grpSpPr>
          <a:xfrm rot="0">
            <a:off x="10913899" y="2237750"/>
            <a:ext cx="3936282" cy="1579975"/>
            <a:chOff x="0" y="0"/>
            <a:chExt cx="5248375" cy="2106634"/>
          </a:xfrm>
        </p:grpSpPr>
        <p:sp>
          <p:nvSpPr>
            <p:cNvPr name="AutoShape 13" id="13"/>
            <p:cNvSpPr/>
            <p:nvPr/>
          </p:nvSpPr>
          <p:spPr>
            <a:xfrm rot="16841">
              <a:off x="25491" y="12700"/>
              <a:ext cx="5184691" cy="0"/>
            </a:xfrm>
            <a:prstGeom prst="line">
              <a:avLst/>
            </a:prstGeom>
            <a:ln cap="flat" w="50800">
              <a:solidFill>
                <a:srgbClr val="004AAD"/>
              </a:solidFill>
              <a:prstDash val="solid"/>
              <a:headEnd type="none" len="sm" w="sm"/>
              <a:tailEnd type="none" len="sm" w="sm"/>
            </a:ln>
          </p:spPr>
        </p:sp>
        <p:sp>
          <p:nvSpPr>
            <p:cNvPr name="AutoShape 14" id="14"/>
            <p:cNvSpPr/>
            <p:nvPr/>
          </p:nvSpPr>
          <p:spPr>
            <a:xfrm rot="-5357834">
              <a:off x="-1002379" y="1040461"/>
              <a:ext cx="2081079" cy="0"/>
            </a:xfrm>
            <a:prstGeom prst="line">
              <a:avLst/>
            </a:prstGeom>
            <a:ln cap="flat" w="50800">
              <a:solidFill>
                <a:srgbClr val="004AAD"/>
              </a:solidFill>
              <a:prstDash val="solid"/>
              <a:headEnd type="oval" len="lg" w="lg"/>
              <a:tailEnd type="none" len="sm" w="sm"/>
            </a:ln>
          </p:spPr>
        </p:sp>
        <p:sp>
          <p:nvSpPr>
            <p:cNvPr name="AutoShape 15" id="15"/>
            <p:cNvSpPr/>
            <p:nvPr/>
          </p:nvSpPr>
          <p:spPr>
            <a:xfrm rot="-5400000">
              <a:off x="4840733" y="382242"/>
              <a:ext cx="764485" cy="0"/>
            </a:xfrm>
            <a:prstGeom prst="line">
              <a:avLst/>
            </a:prstGeom>
            <a:ln cap="flat" w="50800">
              <a:solidFill>
                <a:srgbClr val="004AAD"/>
              </a:solidFill>
              <a:prstDash val="solid"/>
              <a:headEnd type="triangle" len="med" w="lg"/>
              <a:tailEnd type="none" len="sm" w="sm"/>
            </a:ln>
          </p:spPr>
        </p:sp>
      </p:grpSp>
      <p:sp>
        <p:nvSpPr>
          <p:cNvPr name="TextBox 16" id="16"/>
          <p:cNvSpPr txBox="true"/>
          <p:nvPr/>
        </p:nvSpPr>
        <p:spPr>
          <a:xfrm rot="0">
            <a:off x="13033457" y="3069563"/>
            <a:ext cx="4567591"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DOCE ENTIDADES</a:t>
            </a:r>
          </a:p>
        </p:txBody>
      </p:sp>
      <p:grpSp>
        <p:nvGrpSpPr>
          <p:cNvPr name="Group 17" id="17"/>
          <p:cNvGrpSpPr/>
          <p:nvPr/>
        </p:nvGrpSpPr>
        <p:grpSpPr>
          <a:xfrm rot="-10800000">
            <a:off x="3116062" y="6726960"/>
            <a:ext cx="3936282" cy="1579975"/>
            <a:chOff x="0" y="0"/>
            <a:chExt cx="5248375" cy="2106634"/>
          </a:xfrm>
        </p:grpSpPr>
        <p:sp>
          <p:nvSpPr>
            <p:cNvPr name="AutoShape 18" id="18"/>
            <p:cNvSpPr/>
            <p:nvPr/>
          </p:nvSpPr>
          <p:spPr>
            <a:xfrm rot="16841">
              <a:off x="25491" y="12700"/>
              <a:ext cx="5184691" cy="0"/>
            </a:xfrm>
            <a:prstGeom prst="line">
              <a:avLst/>
            </a:prstGeom>
            <a:ln cap="flat" w="50800">
              <a:solidFill>
                <a:srgbClr val="004AAD"/>
              </a:solidFill>
              <a:prstDash val="solid"/>
              <a:headEnd type="none" len="sm" w="sm"/>
              <a:tailEnd type="none" len="sm" w="sm"/>
            </a:ln>
          </p:spPr>
        </p:sp>
        <p:sp>
          <p:nvSpPr>
            <p:cNvPr name="AutoShape 19" id="19"/>
            <p:cNvSpPr/>
            <p:nvPr/>
          </p:nvSpPr>
          <p:spPr>
            <a:xfrm rot="-5357834">
              <a:off x="-1002379" y="1040461"/>
              <a:ext cx="2081079" cy="0"/>
            </a:xfrm>
            <a:prstGeom prst="line">
              <a:avLst/>
            </a:prstGeom>
            <a:ln cap="flat" w="50800">
              <a:solidFill>
                <a:srgbClr val="004AAD"/>
              </a:solidFill>
              <a:prstDash val="solid"/>
              <a:headEnd type="oval" len="lg" w="lg"/>
              <a:tailEnd type="none" len="sm" w="sm"/>
            </a:ln>
          </p:spPr>
        </p:sp>
        <p:sp>
          <p:nvSpPr>
            <p:cNvPr name="AutoShape 20" id="20"/>
            <p:cNvSpPr/>
            <p:nvPr/>
          </p:nvSpPr>
          <p:spPr>
            <a:xfrm rot="-5400000">
              <a:off x="4840733" y="382242"/>
              <a:ext cx="764485" cy="0"/>
            </a:xfrm>
            <a:prstGeom prst="line">
              <a:avLst/>
            </a:prstGeom>
            <a:ln cap="flat" w="50800">
              <a:solidFill>
                <a:srgbClr val="004AAD"/>
              </a:solidFill>
              <a:prstDash val="solid"/>
              <a:headEnd type="triangle" len="med" w="lg"/>
              <a:tailEnd type="none" len="sm" w="sm"/>
            </a:ln>
          </p:spPr>
        </p:sp>
      </p:grpSp>
      <p:sp>
        <p:nvSpPr>
          <p:cNvPr name="Titulo901" id="901"/>
          <p:cNvSpPr txBox="true"/>
          <p:nvPr/>
        </p:nvSpPr>
        <p:spPr>
          <a:xfrm rot="0">
            <a:off x="5029200" y="731520"/>
            <a:ext cx="6766560" cy="914400"/>
          </a:xfrm>
          <a:prstGeom prst="rect">
            <a:avLst/>
          </a:prstGeom>
        </p:spPr>
        <p:txBody>
          <a:bodyPr anchor="t" rtlCol="false" tIns="0" lIns="0" bIns="0" rIns="0">
            <a:spAutoFit/>
          </a:bodyPr>
          <a:lstStyle/>
          <a:p>
            <a:pPr algn="ctr" marL="0" indent="0" lvl="0">
              <a:spcBef>
                <a:spcPct val="0"/>
              </a:spcBef>
            </a:pPr>
            <a:r>
              <a:rPr lang="en-US" b="true" sz="4000" spc="27" u="none">
                <a:solidFill>
                  <a:srgbClr val="000000"/>
                </a:solidFill>
                <a:latin typeface="Raleway 1 Bold"/>
                <a:ea typeface="Raleway 1 Bold"/>
                <a:cs typeface="Raleway 1 Bold"/>
                <a:sym typeface="Raleway 1 Bold"/>
              </a:rPr>
              <a:t>EL CASO HOLDING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AutoShape 2" id="2"/>
          <p:cNvSpPr/>
          <p:nvPr/>
        </p:nvSpPr>
        <p:spPr>
          <a:xfrm rot="5389339">
            <a:off x="10422840" y="5387544"/>
            <a:ext cx="6143035" cy="0"/>
          </a:xfrm>
          <a:prstGeom prst="line">
            <a:avLst/>
          </a:prstGeom>
          <a:ln cap="flat" w="38100">
            <a:solidFill>
              <a:srgbClr val="2B2B2B"/>
            </a:solidFill>
            <a:prstDash val="solid"/>
            <a:headEnd type="none" len="sm" w="sm"/>
            <a:tailEnd type="none" len="sm" w="sm"/>
          </a:ln>
        </p:spPr>
      </p:sp>
      <p:sp>
        <p:nvSpPr>
          <p:cNvPr name="AutoShape 3" id="3"/>
          <p:cNvSpPr/>
          <p:nvPr/>
        </p:nvSpPr>
        <p:spPr>
          <a:xfrm rot="5389339">
            <a:off x="1717578" y="5387544"/>
            <a:ext cx="6143035" cy="0"/>
          </a:xfrm>
          <a:prstGeom prst="line">
            <a:avLst/>
          </a:prstGeom>
          <a:ln cap="flat" w="38100">
            <a:solidFill>
              <a:srgbClr val="2B2B2B"/>
            </a:solidFill>
            <a:prstDash val="solid"/>
            <a:headEnd type="none" len="sm" w="sm"/>
            <a:tailEnd type="none" len="sm" w="sm"/>
          </a:ln>
        </p:spPr>
      </p:sp>
      <p:sp>
        <p:nvSpPr>
          <p:cNvPr name="AutoShape 4" id="4"/>
          <p:cNvSpPr/>
          <p:nvPr/>
        </p:nvSpPr>
        <p:spPr>
          <a:xfrm rot="0">
            <a:off x="11158145" y="2315948"/>
            <a:ext cx="2345737" cy="0"/>
          </a:xfrm>
          <a:prstGeom prst="line">
            <a:avLst/>
          </a:prstGeom>
          <a:ln cap="flat" w="38100">
            <a:solidFill>
              <a:srgbClr val="2B2B2B"/>
            </a:solidFill>
            <a:prstDash val="solid"/>
            <a:headEnd type="oval" len="lg" w="lg"/>
            <a:tailEnd type="none" len="sm" w="sm"/>
          </a:ln>
        </p:spPr>
      </p:sp>
      <p:sp>
        <p:nvSpPr>
          <p:cNvPr name="AutoShape 5" id="5"/>
          <p:cNvSpPr/>
          <p:nvPr/>
        </p:nvSpPr>
        <p:spPr>
          <a:xfrm rot="0">
            <a:off x="4760520" y="2315948"/>
            <a:ext cx="2345737" cy="0"/>
          </a:xfrm>
          <a:prstGeom prst="line">
            <a:avLst/>
          </a:prstGeom>
          <a:ln cap="flat" w="38100">
            <a:solidFill>
              <a:srgbClr val="2B2B2B"/>
            </a:solidFill>
            <a:prstDash val="solid"/>
            <a:headEnd type="none" len="sm" w="sm"/>
            <a:tailEnd type="oval" len="lg" w="lg"/>
          </a:ln>
        </p:spPr>
      </p:sp>
      <p:sp>
        <p:nvSpPr>
          <p:cNvPr name="Freeform 6" id="6"/>
          <p:cNvSpPr/>
          <p:nvPr/>
        </p:nvSpPr>
        <p:spPr>
          <a:xfrm flipH="false" flipV="false" rot="0">
            <a:off x="7372958" y="1028700"/>
            <a:ext cx="3542085" cy="2859428"/>
          </a:xfrm>
          <a:custGeom>
            <a:avLst/>
            <a:gdLst/>
            <a:ahLst/>
            <a:cxnLst/>
            <a:rect r="r" b="b" t="t" l="l"/>
            <a:pathLst>
              <a:path h="2859428" w="3542085">
                <a:moveTo>
                  <a:pt x="0" y="0"/>
                </a:moveTo>
                <a:lnTo>
                  <a:pt x="3542084" y="0"/>
                </a:lnTo>
                <a:lnTo>
                  <a:pt x="3542084" y="2859428"/>
                </a:lnTo>
                <a:lnTo>
                  <a:pt x="0" y="285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645672" y="7745677"/>
            <a:ext cx="5810329" cy="1254291"/>
            <a:chOff x="0" y="0"/>
            <a:chExt cx="1530292" cy="330348"/>
          </a:xfrm>
        </p:grpSpPr>
        <p:sp>
          <p:nvSpPr>
            <p:cNvPr name="Freeform 8" id="8"/>
            <p:cNvSpPr/>
            <p:nvPr/>
          </p:nvSpPr>
          <p:spPr>
            <a:xfrm flipH="false" flipV="false" rot="0">
              <a:off x="0" y="0"/>
              <a:ext cx="1530292" cy="330348"/>
            </a:xfrm>
            <a:custGeom>
              <a:avLst/>
              <a:gdLst/>
              <a:ahLst/>
              <a:cxnLst/>
              <a:rect r="r" b="b" t="t" l="l"/>
              <a:pathLst>
                <a:path h="330348" w="1530292">
                  <a:moveTo>
                    <a:pt x="0" y="0"/>
                  </a:moveTo>
                  <a:lnTo>
                    <a:pt x="1530292" y="0"/>
                  </a:lnTo>
                  <a:lnTo>
                    <a:pt x="1530292" y="330348"/>
                  </a:lnTo>
                  <a:lnTo>
                    <a:pt x="0" y="330348"/>
                  </a:lnTo>
                  <a:close/>
                </a:path>
              </a:pathLst>
            </a:custGeom>
            <a:solidFill>
              <a:srgbClr val="F6F6F6"/>
            </a:solidFill>
            <a:ln w="38100" cap="sq">
              <a:solidFill>
                <a:srgbClr val="2B2B2B"/>
              </a:solidFill>
              <a:prstDash val="solid"/>
              <a:miter/>
            </a:ln>
          </p:spPr>
        </p:sp>
        <p:sp>
          <p:nvSpPr>
            <p:cNvPr name="TextBox 9" id="9"/>
            <p:cNvSpPr txBox="true"/>
            <p:nvPr/>
          </p:nvSpPr>
          <p:spPr>
            <a:xfrm>
              <a:off x="0" y="-9525"/>
              <a:ext cx="1530292" cy="339873"/>
            </a:xfrm>
            <a:prstGeom prst="rect">
              <a:avLst/>
            </a:prstGeom>
          </p:spPr>
          <p:txBody>
            <a:bodyPr anchor="ctr" rtlCol="false" tIns="50800" lIns="50800" bIns="50800" rIns="50800"/>
            <a:lstStyle/>
            <a:p>
              <a:pPr algn="ctr">
                <a:lnSpc>
                  <a:spcPts val="3143"/>
                </a:lnSpc>
              </a:pPr>
            </a:p>
          </p:txBody>
        </p:sp>
      </p:grpSp>
      <p:grpSp>
        <p:nvGrpSpPr>
          <p:cNvPr name="Group 10" id="10"/>
          <p:cNvGrpSpPr/>
          <p:nvPr/>
        </p:nvGrpSpPr>
        <p:grpSpPr>
          <a:xfrm rot="0">
            <a:off x="9831999" y="7745677"/>
            <a:ext cx="5810329" cy="1254291"/>
            <a:chOff x="0" y="0"/>
            <a:chExt cx="1530292" cy="330348"/>
          </a:xfrm>
        </p:grpSpPr>
        <p:sp>
          <p:nvSpPr>
            <p:cNvPr name="Freeform 11" id="11"/>
            <p:cNvSpPr/>
            <p:nvPr/>
          </p:nvSpPr>
          <p:spPr>
            <a:xfrm flipH="false" flipV="false" rot="0">
              <a:off x="0" y="0"/>
              <a:ext cx="1530292" cy="330348"/>
            </a:xfrm>
            <a:custGeom>
              <a:avLst/>
              <a:gdLst/>
              <a:ahLst/>
              <a:cxnLst/>
              <a:rect r="r" b="b" t="t" l="l"/>
              <a:pathLst>
                <a:path h="330348" w="1530292">
                  <a:moveTo>
                    <a:pt x="0" y="0"/>
                  </a:moveTo>
                  <a:lnTo>
                    <a:pt x="1530292" y="0"/>
                  </a:lnTo>
                  <a:lnTo>
                    <a:pt x="1530292" y="330348"/>
                  </a:lnTo>
                  <a:lnTo>
                    <a:pt x="0" y="330348"/>
                  </a:lnTo>
                  <a:close/>
                </a:path>
              </a:pathLst>
            </a:custGeom>
            <a:solidFill>
              <a:srgbClr val="F6F6F6"/>
            </a:solidFill>
            <a:ln w="38100" cap="sq">
              <a:solidFill>
                <a:srgbClr val="2B2B2B"/>
              </a:solidFill>
              <a:prstDash val="solid"/>
              <a:miter/>
            </a:ln>
          </p:spPr>
        </p:sp>
        <p:sp>
          <p:nvSpPr>
            <p:cNvPr name="TextBox 12" id="12"/>
            <p:cNvSpPr txBox="true"/>
            <p:nvPr/>
          </p:nvSpPr>
          <p:spPr>
            <a:xfrm>
              <a:off x="0" y="-9525"/>
              <a:ext cx="1530292" cy="339873"/>
            </a:xfrm>
            <a:prstGeom prst="rect">
              <a:avLst/>
            </a:prstGeom>
          </p:spPr>
          <p:txBody>
            <a:bodyPr anchor="ctr" rtlCol="false" tIns="50800" lIns="50800" bIns="50800" rIns="50800"/>
            <a:lstStyle/>
            <a:p>
              <a:pPr algn="ctr">
                <a:lnSpc>
                  <a:spcPts val="3143"/>
                </a:lnSpc>
              </a:pPr>
            </a:p>
          </p:txBody>
        </p:sp>
      </p:grpSp>
      <p:grpSp>
        <p:nvGrpSpPr>
          <p:cNvPr name="Group 13" id="13"/>
          <p:cNvGrpSpPr/>
          <p:nvPr/>
        </p:nvGrpSpPr>
        <p:grpSpPr>
          <a:xfrm rot="0">
            <a:off x="2645672" y="6078261"/>
            <a:ext cx="5810329" cy="1254291"/>
            <a:chOff x="0" y="0"/>
            <a:chExt cx="1530292" cy="330348"/>
          </a:xfrm>
        </p:grpSpPr>
        <p:sp>
          <p:nvSpPr>
            <p:cNvPr name="Freeform 14" id="14"/>
            <p:cNvSpPr/>
            <p:nvPr/>
          </p:nvSpPr>
          <p:spPr>
            <a:xfrm flipH="false" flipV="false" rot="0">
              <a:off x="0" y="0"/>
              <a:ext cx="1530292" cy="330348"/>
            </a:xfrm>
            <a:custGeom>
              <a:avLst/>
              <a:gdLst/>
              <a:ahLst/>
              <a:cxnLst/>
              <a:rect r="r" b="b" t="t" l="l"/>
              <a:pathLst>
                <a:path h="330348" w="1530292">
                  <a:moveTo>
                    <a:pt x="0" y="0"/>
                  </a:moveTo>
                  <a:lnTo>
                    <a:pt x="1530292" y="0"/>
                  </a:lnTo>
                  <a:lnTo>
                    <a:pt x="1530292" y="330348"/>
                  </a:lnTo>
                  <a:lnTo>
                    <a:pt x="0" y="330348"/>
                  </a:lnTo>
                  <a:close/>
                </a:path>
              </a:pathLst>
            </a:custGeom>
            <a:solidFill>
              <a:srgbClr val="F6F6F6"/>
            </a:solidFill>
            <a:ln w="38100" cap="sq">
              <a:solidFill>
                <a:srgbClr val="2B2B2B"/>
              </a:solidFill>
              <a:prstDash val="solid"/>
              <a:miter/>
            </a:ln>
          </p:spPr>
        </p:sp>
        <p:sp>
          <p:nvSpPr>
            <p:cNvPr name="TextBox 15" id="15"/>
            <p:cNvSpPr txBox="true"/>
            <p:nvPr/>
          </p:nvSpPr>
          <p:spPr>
            <a:xfrm>
              <a:off x="0" y="-9525"/>
              <a:ext cx="1530292" cy="339873"/>
            </a:xfrm>
            <a:prstGeom prst="rect">
              <a:avLst/>
            </a:prstGeom>
          </p:spPr>
          <p:txBody>
            <a:bodyPr anchor="ctr" rtlCol="false" tIns="50800" lIns="50800" bIns="50800" rIns="50800"/>
            <a:lstStyle/>
            <a:p>
              <a:pPr algn="ctr">
                <a:lnSpc>
                  <a:spcPts val="3143"/>
                </a:lnSpc>
              </a:pPr>
            </a:p>
          </p:txBody>
        </p:sp>
      </p:grpSp>
      <p:grpSp>
        <p:nvGrpSpPr>
          <p:cNvPr name="Group 16" id="16"/>
          <p:cNvGrpSpPr/>
          <p:nvPr/>
        </p:nvGrpSpPr>
        <p:grpSpPr>
          <a:xfrm rot="0">
            <a:off x="9831999" y="6078261"/>
            <a:ext cx="5810329" cy="1254291"/>
            <a:chOff x="0" y="0"/>
            <a:chExt cx="1530292" cy="330348"/>
          </a:xfrm>
        </p:grpSpPr>
        <p:sp>
          <p:nvSpPr>
            <p:cNvPr name="Freeform 17" id="17"/>
            <p:cNvSpPr/>
            <p:nvPr/>
          </p:nvSpPr>
          <p:spPr>
            <a:xfrm flipH="false" flipV="false" rot="0">
              <a:off x="0" y="0"/>
              <a:ext cx="1530292" cy="330348"/>
            </a:xfrm>
            <a:custGeom>
              <a:avLst/>
              <a:gdLst/>
              <a:ahLst/>
              <a:cxnLst/>
              <a:rect r="r" b="b" t="t" l="l"/>
              <a:pathLst>
                <a:path h="330348" w="1530292">
                  <a:moveTo>
                    <a:pt x="0" y="0"/>
                  </a:moveTo>
                  <a:lnTo>
                    <a:pt x="1530292" y="0"/>
                  </a:lnTo>
                  <a:lnTo>
                    <a:pt x="1530292" y="330348"/>
                  </a:lnTo>
                  <a:lnTo>
                    <a:pt x="0" y="330348"/>
                  </a:lnTo>
                  <a:close/>
                </a:path>
              </a:pathLst>
            </a:custGeom>
            <a:solidFill>
              <a:srgbClr val="F6F6F6"/>
            </a:solidFill>
            <a:ln w="38100" cap="sq">
              <a:solidFill>
                <a:srgbClr val="2B2B2B"/>
              </a:solidFill>
              <a:prstDash val="solid"/>
              <a:miter/>
            </a:ln>
          </p:spPr>
        </p:sp>
        <p:sp>
          <p:nvSpPr>
            <p:cNvPr name="TextBox 18" id="18"/>
            <p:cNvSpPr txBox="true"/>
            <p:nvPr/>
          </p:nvSpPr>
          <p:spPr>
            <a:xfrm>
              <a:off x="0" y="-9525"/>
              <a:ext cx="1530292" cy="339873"/>
            </a:xfrm>
            <a:prstGeom prst="rect">
              <a:avLst/>
            </a:prstGeom>
          </p:spPr>
          <p:txBody>
            <a:bodyPr anchor="ctr" rtlCol="false" tIns="50800" lIns="50800" bIns="50800" rIns="50800"/>
            <a:lstStyle/>
            <a:p>
              <a:pPr algn="ctr">
                <a:lnSpc>
                  <a:spcPts val="3143"/>
                </a:lnSpc>
              </a:pPr>
            </a:p>
          </p:txBody>
        </p:sp>
      </p:grpSp>
      <p:grpSp>
        <p:nvGrpSpPr>
          <p:cNvPr name="Group 19" id="19"/>
          <p:cNvGrpSpPr/>
          <p:nvPr/>
        </p:nvGrpSpPr>
        <p:grpSpPr>
          <a:xfrm rot="0">
            <a:off x="2645672" y="4410845"/>
            <a:ext cx="5810329" cy="1254291"/>
            <a:chOff x="0" y="0"/>
            <a:chExt cx="1530292" cy="330348"/>
          </a:xfrm>
        </p:grpSpPr>
        <p:sp>
          <p:nvSpPr>
            <p:cNvPr name="Freeform 20" id="20"/>
            <p:cNvSpPr/>
            <p:nvPr/>
          </p:nvSpPr>
          <p:spPr>
            <a:xfrm flipH="false" flipV="false" rot="0">
              <a:off x="0" y="0"/>
              <a:ext cx="1530292" cy="330348"/>
            </a:xfrm>
            <a:custGeom>
              <a:avLst/>
              <a:gdLst/>
              <a:ahLst/>
              <a:cxnLst/>
              <a:rect r="r" b="b" t="t" l="l"/>
              <a:pathLst>
                <a:path h="330348" w="1530292">
                  <a:moveTo>
                    <a:pt x="0" y="0"/>
                  </a:moveTo>
                  <a:lnTo>
                    <a:pt x="1530292" y="0"/>
                  </a:lnTo>
                  <a:lnTo>
                    <a:pt x="1530292" y="330348"/>
                  </a:lnTo>
                  <a:lnTo>
                    <a:pt x="0" y="330348"/>
                  </a:lnTo>
                  <a:close/>
                </a:path>
              </a:pathLst>
            </a:custGeom>
            <a:solidFill>
              <a:srgbClr val="F6F6F6"/>
            </a:solidFill>
            <a:ln w="38100" cap="sq">
              <a:solidFill>
                <a:srgbClr val="2B2B2B"/>
              </a:solidFill>
              <a:prstDash val="solid"/>
              <a:miter/>
            </a:ln>
          </p:spPr>
        </p:sp>
        <p:sp>
          <p:nvSpPr>
            <p:cNvPr name="TextBox 21" id="21"/>
            <p:cNvSpPr txBox="true"/>
            <p:nvPr/>
          </p:nvSpPr>
          <p:spPr>
            <a:xfrm>
              <a:off x="0" y="-9525"/>
              <a:ext cx="1530292" cy="339873"/>
            </a:xfrm>
            <a:prstGeom prst="rect">
              <a:avLst/>
            </a:prstGeom>
          </p:spPr>
          <p:txBody>
            <a:bodyPr anchor="ctr" rtlCol="false" tIns="50800" lIns="50800" bIns="50800" rIns="50800"/>
            <a:lstStyle/>
            <a:p>
              <a:pPr algn="ctr">
                <a:lnSpc>
                  <a:spcPts val="3143"/>
                </a:lnSpc>
              </a:pPr>
            </a:p>
          </p:txBody>
        </p:sp>
      </p:grpSp>
      <p:grpSp>
        <p:nvGrpSpPr>
          <p:cNvPr name="Group 22" id="22"/>
          <p:cNvGrpSpPr/>
          <p:nvPr/>
        </p:nvGrpSpPr>
        <p:grpSpPr>
          <a:xfrm rot="0">
            <a:off x="1028700" y="4410845"/>
            <a:ext cx="1248511" cy="1254291"/>
            <a:chOff x="0" y="0"/>
            <a:chExt cx="328826" cy="330348"/>
          </a:xfrm>
        </p:grpSpPr>
        <p:sp>
          <p:nvSpPr>
            <p:cNvPr name="Freeform 23" id="23"/>
            <p:cNvSpPr/>
            <p:nvPr/>
          </p:nvSpPr>
          <p:spPr>
            <a:xfrm flipH="false" flipV="false" rot="0">
              <a:off x="0" y="0"/>
              <a:ext cx="328826" cy="330348"/>
            </a:xfrm>
            <a:custGeom>
              <a:avLst/>
              <a:gdLst/>
              <a:ahLst/>
              <a:cxnLst/>
              <a:rect r="r" b="b" t="t" l="l"/>
              <a:pathLst>
                <a:path h="330348" w="328826">
                  <a:moveTo>
                    <a:pt x="0" y="0"/>
                  </a:moveTo>
                  <a:lnTo>
                    <a:pt x="328826" y="0"/>
                  </a:lnTo>
                  <a:lnTo>
                    <a:pt x="328826" y="330348"/>
                  </a:lnTo>
                  <a:lnTo>
                    <a:pt x="0" y="330348"/>
                  </a:lnTo>
                  <a:close/>
                </a:path>
              </a:pathLst>
            </a:custGeom>
            <a:solidFill>
              <a:srgbClr val="004AAD"/>
            </a:solidFill>
            <a:ln cap="sq">
              <a:noFill/>
              <a:prstDash val="solid"/>
              <a:miter/>
            </a:ln>
          </p:spPr>
        </p:sp>
        <p:sp>
          <p:nvSpPr>
            <p:cNvPr name="TextBox 24" id="24"/>
            <p:cNvSpPr txBox="true"/>
            <p:nvPr/>
          </p:nvSpPr>
          <p:spPr>
            <a:xfrm>
              <a:off x="0" y="-9525"/>
              <a:ext cx="328826" cy="339873"/>
            </a:xfrm>
            <a:prstGeom prst="rect">
              <a:avLst/>
            </a:prstGeom>
          </p:spPr>
          <p:txBody>
            <a:bodyPr anchor="ctr" rtlCol="false" tIns="50800" lIns="50800" bIns="50800" rIns="50800"/>
            <a:lstStyle/>
            <a:p>
              <a:pPr algn="ctr">
                <a:lnSpc>
                  <a:spcPts val="3143"/>
                </a:lnSpc>
              </a:pPr>
            </a:p>
          </p:txBody>
        </p:sp>
      </p:grpSp>
      <p:grpSp>
        <p:nvGrpSpPr>
          <p:cNvPr name="Group 25" id="25"/>
          <p:cNvGrpSpPr/>
          <p:nvPr/>
        </p:nvGrpSpPr>
        <p:grpSpPr>
          <a:xfrm rot="0">
            <a:off x="16010789" y="4410845"/>
            <a:ext cx="1248511" cy="1254291"/>
            <a:chOff x="0" y="0"/>
            <a:chExt cx="328826" cy="330348"/>
          </a:xfrm>
        </p:grpSpPr>
        <p:sp>
          <p:nvSpPr>
            <p:cNvPr name="Freeform 26" id="26"/>
            <p:cNvSpPr/>
            <p:nvPr/>
          </p:nvSpPr>
          <p:spPr>
            <a:xfrm flipH="false" flipV="false" rot="0">
              <a:off x="0" y="0"/>
              <a:ext cx="328826" cy="330348"/>
            </a:xfrm>
            <a:custGeom>
              <a:avLst/>
              <a:gdLst/>
              <a:ahLst/>
              <a:cxnLst/>
              <a:rect r="r" b="b" t="t" l="l"/>
              <a:pathLst>
                <a:path h="330348" w="328826">
                  <a:moveTo>
                    <a:pt x="0" y="0"/>
                  </a:moveTo>
                  <a:lnTo>
                    <a:pt x="328826" y="0"/>
                  </a:lnTo>
                  <a:lnTo>
                    <a:pt x="328826" y="330348"/>
                  </a:lnTo>
                  <a:lnTo>
                    <a:pt x="0" y="330348"/>
                  </a:lnTo>
                  <a:close/>
                </a:path>
              </a:pathLst>
            </a:custGeom>
            <a:solidFill>
              <a:srgbClr val="C6302C"/>
            </a:solidFill>
            <a:ln cap="sq">
              <a:noFill/>
              <a:prstDash val="solid"/>
              <a:miter/>
            </a:ln>
          </p:spPr>
        </p:sp>
        <p:sp>
          <p:nvSpPr>
            <p:cNvPr name="TextBox 27" id="27"/>
            <p:cNvSpPr txBox="true"/>
            <p:nvPr/>
          </p:nvSpPr>
          <p:spPr>
            <a:xfrm>
              <a:off x="0" y="-9525"/>
              <a:ext cx="328826" cy="339873"/>
            </a:xfrm>
            <a:prstGeom prst="rect">
              <a:avLst/>
            </a:prstGeom>
          </p:spPr>
          <p:txBody>
            <a:bodyPr anchor="ctr" rtlCol="false" tIns="50800" lIns="50800" bIns="50800" rIns="50800"/>
            <a:lstStyle/>
            <a:p>
              <a:pPr algn="ctr">
                <a:lnSpc>
                  <a:spcPts val="3143"/>
                </a:lnSpc>
              </a:pPr>
            </a:p>
          </p:txBody>
        </p:sp>
      </p:grpSp>
      <p:grpSp>
        <p:nvGrpSpPr>
          <p:cNvPr name="Group 28" id="28"/>
          <p:cNvGrpSpPr/>
          <p:nvPr/>
        </p:nvGrpSpPr>
        <p:grpSpPr>
          <a:xfrm rot="0">
            <a:off x="1028700" y="6078261"/>
            <a:ext cx="1248511" cy="1254291"/>
            <a:chOff x="0" y="0"/>
            <a:chExt cx="328826" cy="330348"/>
          </a:xfrm>
        </p:grpSpPr>
        <p:sp>
          <p:nvSpPr>
            <p:cNvPr name="Freeform 29" id="29"/>
            <p:cNvSpPr/>
            <p:nvPr/>
          </p:nvSpPr>
          <p:spPr>
            <a:xfrm flipH="false" flipV="false" rot="0">
              <a:off x="0" y="0"/>
              <a:ext cx="328826" cy="330348"/>
            </a:xfrm>
            <a:custGeom>
              <a:avLst/>
              <a:gdLst/>
              <a:ahLst/>
              <a:cxnLst/>
              <a:rect r="r" b="b" t="t" l="l"/>
              <a:pathLst>
                <a:path h="330348" w="328826">
                  <a:moveTo>
                    <a:pt x="0" y="0"/>
                  </a:moveTo>
                  <a:lnTo>
                    <a:pt x="328826" y="0"/>
                  </a:lnTo>
                  <a:lnTo>
                    <a:pt x="328826" y="330348"/>
                  </a:lnTo>
                  <a:lnTo>
                    <a:pt x="0" y="330348"/>
                  </a:lnTo>
                  <a:close/>
                </a:path>
              </a:pathLst>
            </a:custGeom>
            <a:solidFill>
              <a:srgbClr val="004AAD"/>
            </a:solidFill>
            <a:ln cap="sq">
              <a:noFill/>
              <a:prstDash val="solid"/>
              <a:miter/>
            </a:ln>
          </p:spPr>
        </p:sp>
        <p:sp>
          <p:nvSpPr>
            <p:cNvPr name="TextBox 30" id="30"/>
            <p:cNvSpPr txBox="true"/>
            <p:nvPr/>
          </p:nvSpPr>
          <p:spPr>
            <a:xfrm>
              <a:off x="0" y="-9525"/>
              <a:ext cx="328826" cy="339873"/>
            </a:xfrm>
            <a:prstGeom prst="rect">
              <a:avLst/>
            </a:prstGeom>
          </p:spPr>
          <p:txBody>
            <a:bodyPr anchor="ctr" rtlCol="false" tIns="50800" lIns="50800" bIns="50800" rIns="50800"/>
            <a:lstStyle/>
            <a:p>
              <a:pPr algn="ctr">
                <a:lnSpc>
                  <a:spcPts val="3143"/>
                </a:lnSpc>
              </a:pPr>
            </a:p>
          </p:txBody>
        </p:sp>
      </p:grpSp>
      <p:grpSp>
        <p:nvGrpSpPr>
          <p:cNvPr name="Group 31" id="31"/>
          <p:cNvGrpSpPr/>
          <p:nvPr/>
        </p:nvGrpSpPr>
        <p:grpSpPr>
          <a:xfrm rot="0">
            <a:off x="16010789" y="6078261"/>
            <a:ext cx="1248511" cy="1254291"/>
            <a:chOff x="0" y="0"/>
            <a:chExt cx="328826" cy="330348"/>
          </a:xfrm>
        </p:grpSpPr>
        <p:sp>
          <p:nvSpPr>
            <p:cNvPr name="Freeform 32" id="32"/>
            <p:cNvSpPr/>
            <p:nvPr/>
          </p:nvSpPr>
          <p:spPr>
            <a:xfrm flipH="false" flipV="false" rot="0">
              <a:off x="0" y="0"/>
              <a:ext cx="328826" cy="330348"/>
            </a:xfrm>
            <a:custGeom>
              <a:avLst/>
              <a:gdLst/>
              <a:ahLst/>
              <a:cxnLst/>
              <a:rect r="r" b="b" t="t" l="l"/>
              <a:pathLst>
                <a:path h="330348" w="328826">
                  <a:moveTo>
                    <a:pt x="0" y="0"/>
                  </a:moveTo>
                  <a:lnTo>
                    <a:pt x="328826" y="0"/>
                  </a:lnTo>
                  <a:lnTo>
                    <a:pt x="328826" y="330348"/>
                  </a:lnTo>
                  <a:lnTo>
                    <a:pt x="0" y="330348"/>
                  </a:lnTo>
                  <a:close/>
                </a:path>
              </a:pathLst>
            </a:custGeom>
            <a:solidFill>
              <a:srgbClr val="C6302C"/>
            </a:solidFill>
            <a:ln cap="sq">
              <a:noFill/>
              <a:prstDash val="solid"/>
              <a:miter/>
            </a:ln>
          </p:spPr>
        </p:sp>
        <p:sp>
          <p:nvSpPr>
            <p:cNvPr name="TextBox 33" id="33"/>
            <p:cNvSpPr txBox="true"/>
            <p:nvPr/>
          </p:nvSpPr>
          <p:spPr>
            <a:xfrm>
              <a:off x="0" y="-9525"/>
              <a:ext cx="328826" cy="339873"/>
            </a:xfrm>
            <a:prstGeom prst="rect">
              <a:avLst/>
            </a:prstGeom>
          </p:spPr>
          <p:txBody>
            <a:bodyPr anchor="ctr" rtlCol="false" tIns="50800" lIns="50800" bIns="50800" rIns="50800"/>
            <a:lstStyle/>
            <a:p>
              <a:pPr algn="ctr">
                <a:lnSpc>
                  <a:spcPts val="3143"/>
                </a:lnSpc>
              </a:pPr>
            </a:p>
          </p:txBody>
        </p:sp>
      </p:grpSp>
      <p:grpSp>
        <p:nvGrpSpPr>
          <p:cNvPr name="Group 34" id="34"/>
          <p:cNvGrpSpPr/>
          <p:nvPr/>
        </p:nvGrpSpPr>
        <p:grpSpPr>
          <a:xfrm rot="0">
            <a:off x="9831999" y="4410845"/>
            <a:ext cx="5810329" cy="1254291"/>
            <a:chOff x="0" y="0"/>
            <a:chExt cx="1530292" cy="330348"/>
          </a:xfrm>
        </p:grpSpPr>
        <p:sp>
          <p:nvSpPr>
            <p:cNvPr name="Freeform 35" id="35"/>
            <p:cNvSpPr/>
            <p:nvPr/>
          </p:nvSpPr>
          <p:spPr>
            <a:xfrm flipH="false" flipV="false" rot="0">
              <a:off x="0" y="0"/>
              <a:ext cx="1530292" cy="330348"/>
            </a:xfrm>
            <a:custGeom>
              <a:avLst/>
              <a:gdLst/>
              <a:ahLst/>
              <a:cxnLst/>
              <a:rect r="r" b="b" t="t" l="l"/>
              <a:pathLst>
                <a:path h="330348" w="1530292">
                  <a:moveTo>
                    <a:pt x="0" y="0"/>
                  </a:moveTo>
                  <a:lnTo>
                    <a:pt x="1530292" y="0"/>
                  </a:lnTo>
                  <a:lnTo>
                    <a:pt x="1530292" y="330348"/>
                  </a:lnTo>
                  <a:lnTo>
                    <a:pt x="0" y="330348"/>
                  </a:lnTo>
                  <a:close/>
                </a:path>
              </a:pathLst>
            </a:custGeom>
            <a:solidFill>
              <a:srgbClr val="F6F6F6"/>
            </a:solidFill>
            <a:ln w="38100" cap="sq">
              <a:solidFill>
                <a:srgbClr val="2B2B2B"/>
              </a:solidFill>
              <a:prstDash val="solid"/>
              <a:miter/>
            </a:ln>
          </p:spPr>
        </p:sp>
        <p:sp>
          <p:nvSpPr>
            <p:cNvPr name="TextBox 36" id="36"/>
            <p:cNvSpPr txBox="true"/>
            <p:nvPr/>
          </p:nvSpPr>
          <p:spPr>
            <a:xfrm>
              <a:off x="0" y="-9525"/>
              <a:ext cx="1530292" cy="339873"/>
            </a:xfrm>
            <a:prstGeom prst="rect">
              <a:avLst/>
            </a:prstGeom>
          </p:spPr>
          <p:txBody>
            <a:bodyPr anchor="ctr" rtlCol="false" tIns="50800" lIns="50800" bIns="50800" rIns="50800"/>
            <a:lstStyle/>
            <a:p>
              <a:pPr algn="ctr">
                <a:lnSpc>
                  <a:spcPts val="3143"/>
                </a:lnSpc>
              </a:pPr>
            </a:p>
          </p:txBody>
        </p:sp>
      </p:grpSp>
      <p:sp>
        <p:nvSpPr>
          <p:cNvPr name="Freeform 37" id="37"/>
          <p:cNvSpPr/>
          <p:nvPr/>
        </p:nvSpPr>
        <p:spPr>
          <a:xfrm flipH="false" flipV="false" rot="0">
            <a:off x="1300227" y="4773444"/>
            <a:ext cx="705458" cy="529093"/>
          </a:xfrm>
          <a:custGeom>
            <a:avLst/>
            <a:gdLst/>
            <a:ahLst/>
            <a:cxnLst/>
            <a:rect r="r" b="b" t="t" l="l"/>
            <a:pathLst>
              <a:path h="529093" w="705458">
                <a:moveTo>
                  <a:pt x="0" y="0"/>
                </a:moveTo>
                <a:lnTo>
                  <a:pt x="705458" y="0"/>
                </a:lnTo>
                <a:lnTo>
                  <a:pt x="705458" y="529093"/>
                </a:lnTo>
                <a:lnTo>
                  <a:pt x="0" y="529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8" id="38"/>
          <p:cNvSpPr/>
          <p:nvPr/>
        </p:nvSpPr>
        <p:spPr>
          <a:xfrm flipH="false" flipV="false" rot="0">
            <a:off x="1300227" y="6440860"/>
            <a:ext cx="705458" cy="529093"/>
          </a:xfrm>
          <a:custGeom>
            <a:avLst/>
            <a:gdLst/>
            <a:ahLst/>
            <a:cxnLst/>
            <a:rect r="r" b="b" t="t" l="l"/>
            <a:pathLst>
              <a:path h="529093" w="705458">
                <a:moveTo>
                  <a:pt x="0" y="0"/>
                </a:moveTo>
                <a:lnTo>
                  <a:pt x="705458" y="0"/>
                </a:lnTo>
                <a:lnTo>
                  <a:pt x="705458" y="529093"/>
                </a:lnTo>
                <a:lnTo>
                  <a:pt x="0" y="529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9" id="39"/>
          <p:cNvGrpSpPr/>
          <p:nvPr/>
        </p:nvGrpSpPr>
        <p:grpSpPr>
          <a:xfrm rot="0">
            <a:off x="1028700" y="7745677"/>
            <a:ext cx="1248511" cy="1254291"/>
            <a:chOff x="0" y="0"/>
            <a:chExt cx="328826" cy="330348"/>
          </a:xfrm>
        </p:grpSpPr>
        <p:sp>
          <p:nvSpPr>
            <p:cNvPr name="Freeform 40" id="40"/>
            <p:cNvSpPr/>
            <p:nvPr/>
          </p:nvSpPr>
          <p:spPr>
            <a:xfrm flipH="false" flipV="false" rot="0">
              <a:off x="0" y="0"/>
              <a:ext cx="328826" cy="330348"/>
            </a:xfrm>
            <a:custGeom>
              <a:avLst/>
              <a:gdLst/>
              <a:ahLst/>
              <a:cxnLst/>
              <a:rect r="r" b="b" t="t" l="l"/>
              <a:pathLst>
                <a:path h="330348" w="328826">
                  <a:moveTo>
                    <a:pt x="0" y="0"/>
                  </a:moveTo>
                  <a:lnTo>
                    <a:pt x="328826" y="0"/>
                  </a:lnTo>
                  <a:lnTo>
                    <a:pt x="328826" y="330348"/>
                  </a:lnTo>
                  <a:lnTo>
                    <a:pt x="0" y="330348"/>
                  </a:lnTo>
                  <a:close/>
                </a:path>
              </a:pathLst>
            </a:custGeom>
            <a:solidFill>
              <a:srgbClr val="004AAD"/>
            </a:solidFill>
            <a:ln cap="sq">
              <a:noFill/>
              <a:prstDash val="solid"/>
              <a:miter/>
            </a:ln>
          </p:spPr>
        </p:sp>
        <p:sp>
          <p:nvSpPr>
            <p:cNvPr name="TextBox 41" id="41"/>
            <p:cNvSpPr txBox="true"/>
            <p:nvPr/>
          </p:nvSpPr>
          <p:spPr>
            <a:xfrm>
              <a:off x="0" y="-9525"/>
              <a:ext cx="328826" cy="339873"/>
            </a:xfrm>
            <a:prstGeom prst="rect">
              <a:avLst/>
            </a:prstGeom>
          </p:spPr>
          <p:txBody>
            <a:bodyPr anchor="ctr" rtlCol="false" tIns="50800" lIns="50800" bIns="50800" rIns="50800"/>
            <a:lstStyle/>
            <a:p>
              <a:pPr algn="ctr">
                <a:lnSpc>
                  <a:spcPts val="3143"/>
                </a:lnSpc>
              </a:pPr>
            </a:p>
          </p:txBody>
        </p:sp>
      </p:grpSp>
      <p:grpSp>
        <p:nvGrpSpPr>
          <p:cNvPr name="Group 42" id="42"/>
          <p:cNvGrpSpPr/>
          <p:nvPr/>
        </p:nvGrpSpPr>
        <p:grpSpPr>
          <a:xfrm rot="0">
            <a:off x="16010789" y="7745677"/>
            <a:ext cx="1248511" cy="1254291"/>
            <a:chOff x="0" y="0"/>
            <a:chExt cx="328826" cy="330348"/>
          </a:xfrm>
        </p:grpSpPr>
        <p:sp>
          <p:nvSpPr>
            <p:cNvPr name="Freeform 43" id="43"/>
            <p:cNvSpPr/>
            <p:nvPr/>
          </p:nvSpPr>
          <p:spPr>
            <a:xfrm flipH="false" flipV="false" rot="0">
              <a:off x="0" y="0"/>
              <a:ext cx="328826" cy="330348"/>
            </a:xfrm>
            <a:custGeom>
              <a:avLst/>
              <a:gdLst/>
              <a:ahLst/>
              <a:cxnLst/>
              <a:rect r="r" b="b" t="t" l="l"/>
              <a:pathLst>
                <a:path h="330348" w="328826">
                  <a:moveTo>
                    <a:pt x="0" y="0"/>
                  </a:moveTo>
                  <a:lnTo>
                    <a:pt x="328826" y="0"/>
                  </a:lnTo>
                  <a:lnTo>
                    <a:pt x="328826" y="330348"/>
                  </a:lnTo>
                  <a:lnTo>
                    <a:pt x="0" y="330348"/>
                  </a:lnTo>
                  <a:close/>
                </a:path>
              </a:pathLst>
            </a:custGeom>
            <a:solidFill>
              <a:srgbClr val="C6302C"/>
            </a:solidFill>
            <a:ln cap="sq">
              <a:noFill/>
              <a:prstDash val="solid"/>
              <a:miter/>
            </a:ln>
          </p:spPr>
        </p:sp>
        <p:sp>
          <p:nvSpPr>
            <p:cNvPr name="TextBox 44" id="44"/>
            <p:cNvSpPr txBox="true"/>
            <p:nvPr/>
          </p:nvSpPr>
          <p:spPr>
            <a:xfrm>
              <a:off x="0" y="-9525"/>
              <a:ext cx="328826" cy="339873"/>
            </a:xfrm>
            <a:prstGeom prst="rect">
              <a:avLst/>
            </a:prstGeom>
          </p:spPr>
          <p:txBody>
            <a:bodyPr anchor="ctr" rtlCol="false" tIns="50800" lIns="50800" bIns="50800" rIns="50800"/>
            <a:lstStyle/>
            <a:p>
              <a:pPr algn="ctr">
                <a:lnSpc>
                  <a:spcPts val="3143"/>
                </a:lnSpc>
              </a:pPr>
            </a:p>
          </p:txBody>
        </p:sp>
      </p:grpSp>
      <p:sp>
        <p:nvSpPr>
          <p:cNvPr name="Freeform 45" id="45"/>
          <p:cNvSpPr/>
          <p:nvPr/>
        </p:nvSpPr>
        <p:spPr>
          <a:xfrm flipH="false" flipV="false" rot="0">
            <a:off x="1300227" y="8108276"/>
            <a:ext cx="705458" cy="529093"/>
          </a:xfrm>
          <a:custGeom>
            <a:avLst/>
            <a:gdLst/>
            <a:ahLst/>
            <a:cxnLst/>
            <a:rect r="r" b="b" t="t" l="l"/>
            <a:pathLst>
              <a:path h="529093" w="705458">
                <a:moveTo>
                  <a:pt x="0" y="0"/>
                </a:moveTo>
                <a:lnTo>
                  <a:pt x="705458" y="0"/>
                </a:lnTo>
                <a:lnTo>
                  <a:pt x="705458" y="529093"/>
                </a:lnTo>
                <a:lnTo>
                  <a:pt x="0" y="529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588726">
            <a:off x="16148162" y="4623239"/>
            <a:ext cx="973764" cy="829503"/>
          </a:xfrm>
          <a:custGeom>
            <a:avLst/>
            <a:gdLst/>
            <a:ahLst/>
            <a:cxnLst/>
            <a:rect r="r" b="b" t="t" l="l"/>
            <a:pathLst>
              <a:path h="829503" w="973764">
                <a:moveTo>
                  <a:pt x="0" y="0"/>
                </a:moveTo>
                <a:lnTo>
                  <a:pt x="973764" y="0"/>
                </a:lnTo>
                <a:lnTo>
                  <a:pt x="973764" y="829503"/>
                </a:lnTo>
                <a:lnTo>
                  <a:pt x="0" y="8295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7" id="47"/>
          <p:cNvSpPr/>
          <p:nvPr/>
        </p:nvSpPr>
        <p:spPr>
          <a:xfrm flipH="false" flipV="false" rot="-588726">
            <a:off x="16148162" y="6361689"/>
            <a:ext cx="973764" cy="829503"/>
          </a:xfrm>
          <a:custGeom>
            <a:avLst/>
            <a:gdLst/>
            <a:ahLst/>
            <a:cxnLst/>
            <a:rect r="r" b="b" t="t" l="l"/>
            <a:pathLst>
              <a:path h="829503" w="973764">
                <a:moveTo>
                  <a:pt x="0" y="0"/>
                </a:moveTo>
                <a:lnTo>
                  <a:pt x="973764" y="0"/>
                </a:lnTo>
                <a:lnTo>
                  <a:pt x="973764" y="829503"/>
                </a:lnTo>
                <a:lnTo>
                  <a:pt x="0" y="8295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8" id="48"/>
          <p:cNvSpPr txBox="true"/>
          <p:nvPr/>
        </p:nvSpPr>
        <p:spPr>
          <a:xfrm rot="0">
            <a:off x="2853162" y="4598317"/>
            <a:ext cx="5395348" cy="860298"/>
          </a:xfrm>
          <a:prstGeom prst="rect">
            <a:avLst/>
          </a:prstGeom>
        </p:spPr>
        <p:txBody>
          <a:bodyPr anchor="t" rtlCol="false" tIns="0" lIns="0" bIns="0" rIns="0">
            <a:spAutoFit/>
          </a:bodyPr>
          <a:lstStyle/>
          <a:p>
            <a:pPr algn="l" marL="0" indent="0" lvl="0">
              <a:lnSpc>
                <a:spcPts val="2286"/>
              </a:lnSpc>
            </a:pPr>
            <a:r>
              <a:rPr lang="en-US" sz="1800">
                <a:solidFill>
                  <a:srgbClr val="000000"/>
                </a:solidFill>
                <a:latin typeface="Raleway 2"/>
                <a:ea typeface="Raleway 2"/>
                <a:cs typeface="Raleway 2"/>
                <a:sym typeface="Raleway 2"/>
              </a:rPr>
              <a:t>Una sola ejecución obtiene y consolida el RCV y los F29 de las doce entidades.</a:t>
            </a:r>
          </a:p>
        </p:txBody>
      </p:sp>
      <p:sp>
        <p:nvSpPr>
          <p:cNvPr name="TextBox 49" id="49"/>
          <p:cNvSpPr txBox="true"/>
          <p:nvPr/>
        </p:nvSpPr>
        <p:spPr>
          <a:xfrm rot="0">
            <a:off x="2853162" y="6265733"/>
            <a:ext cx="5395348" cy="860298"/>
          </a:xfrm>
          <a:prstGeom prst="rect">
            <a:avLst/>
          </a:prstGeom>
        </p:spPr>
        <p:txBody>
          <a:bodyPr anchor="t" rtlCol="false" tIns="0" lIns="0" bIns="0" rIns="0">
            <a:spAutoFit/>
          </a:bodyPr>
          <a:lstStyle/>
          <a:p>
            <a:pPr algn="l" marL="0" indent="0" lvl="0">
              <a:lnSpc>
                <a:spcPts val="2286"/>
              </a:lnSpc>
            </a:pPr>
            <a:r>
              <a:rPr lang="en-US" sz="1800">
                <a:solidFill>
                  <a:srgbClr val="000000"/>
                </a:solidFill>
                <a:latin typeface="Raleway 2"/>
                <a:ea typeface="Raleway 2"/>
                <a:cs typeface="Raleway 2"/>
                <a:sym typeface="Raleway 2"/>
              </a:rPr>
              <a:t>Cada descarga se archiva con su fecha: queda registro de qué se vio y cuándo.</a:t>
            </a:r>
          </a:p>
        </p:txBody>
      </p:sp>
      <p:sp>
        <p:nvSpPr>
          <p:cNvPr name="TextBox 50" id="50"/>
          <p:cNvSpPr txBox="true"/>
          <p:nvPr/>
        </p:nvSpPr>
        <p:spPr>
          <a:xfrm rot="0">
            <a:off x="10039490" y="4598317"/>
            <a:ext cx="5395348" cy="860298"/>
          </a:xfrm>
          <a:prstGeom prst="rect">
            <a:avLst/>
          </a:prstGeom>
        </p:spPr>
        <p:txBody>
          <a:bodyPr anchor="t" rtlCol="false" tIns="0" lIns="0" bIns="0" rIns="0">
            <a:spAutoFit/>
          </a:bodyPr>
          <a:lstStyle/>
          <a:p>
            <a:pPr algn="l" marL="0" indent="0" lvl="0">
              <a:lnSpc>
                <a:spcPts val="2286"/>
              </a:lnSpc>
            </a:pPr>
            <a:r>
              <a:rPr lang="en-US" sz="1800">
                <a:solidFill>
                  <a:srgbClr val="000000"/>
                </a:solidFill>
                <a:latin typeface="Raleway 2"/>
                <a:ea typeface="Raleway 2"/>
                <a:cs typeface="Raleway 2"/>
                <a:sym typeface="Raleway 2"/>
              </a:rPr>
              <a:t>Doce sesiones y doce descargas por informe, todos los meses.</a:t>
            </a:r>
          </a:p>
        </p:txBody>
      </p:sp>
      <p:sp>
        <p:nvSpPr>
          <p:cNvPr name="TextBox 51" id="51"/>
          <p:cNvSpPr txBox="true"/>
          <p:nvPr/>
        </p:nvSpPr>
        <p:spPr>
          <a:xfrm rot="0">
            <a:off x="10039490" y="6265733"/>
            <a:ext cx="5395348" cy="860298"/>
          </a:xfrm>
          <a:prstGeom prst="rect">
            <a:avLst/>
          </a:prstGeom>
        </p:spPr>
        <p:txBody>
          <a:bodyPr anchor="t" rtlCol="false" tIns="0" lIns="0" bIns="0" rIns="0">
            <a:spAutoFit/>
          </a:bodyPr>
          <a:lstStyle/>
          <a:p>
            <a:pPr algn="l" marL="0" indent="0" lvl="0">
              <a:lnSpc>
                <a:spcPts val="2286"/>
              </a:lnSpc>
            </a:pPr>
            <a:r>
              <a:rPr lang="en-US" sz="1800">
                <a:solidFill>
                  <a:srgbClr val="000000"/>
                </a:solidFill>
                <a:latin typeface="Raleway 2"/>
                <a:ea typeface="Raleway 2"/>
                <a:cs typeface="Raleway 2"/>
                <a:sym typeface="Raleway 2"/>
              </a:rPr>
              <a:t>Planillas sueltas en carpetas, sin histórico consultable.</a:t>
            </a:r>
          </a:p>
        </p:txBody>
      </p:sp>
      <p:sp>
        <p:nvSpPr>
          <p:cNvPr name="TextBox 52" id="52"/>
          <p:cNvSpPr txBox="true"/>
          <p:nvPr/>
        </p:nvSpPr>
        <p:spPr>
          <a:xfrm rot="0">
            <a:off x="2853162" y="7933148"/>
            <a:ext cx="5395348" cy="860298"/>
          </a:xfrm>
          <a:prstGeom prst="rect">
            <a:avLst/>
          </a:prstGeom>
        </p:spPr>
        <p:txBody>
          <a:bodyPr anchor="t" rtlCol="false" tIns="0" lIns="0" bIns="0" rIns="0">
            <a:spAutoFit/>
          </a:bodyPr>
          <a:lstStyle/>
          <a:p>
            <a:pPr algn="l" marL="0" indent="0" lvl="0">
              <a:lnSpc>
                <a:spcPts val="2286"/>
              </a:lnSpc>
            </a:pPr>
            <a:r>
              <a:rPr lang="en-US" sz="1800">
                <a:solidFill>
                  <a:srgbClr val="000000"/>
                </a:solidFill>
                <a:latin typeface="Raleway 2"/>
                <a:ea typeface="Raleway 2"/>
                <a:cs typeface="Raleway 2"/>
                <a:sym typeface="Raleway 2"/>
              </a:rPr>
              <a:t>Los usuarios operan desde una aplicación web, sin línea de comandos.</a:t>
            </a:r>
          </a:p>
        </p:txBody>
      </p:sp>
      <p:sp>
        <p:nvSpPr>
          <p:cNvPr name="TextBox 53" id="53"/>
          <p:cNvSpPr txBox="true"/>
          <p:nvPr/>
        </p:nvSpPr>
        <p:spPr>
          <a:xfrm rot="0">
            <a:off x="10039490" y="7933148"/>
            <a:ext cx="5395348" cy="860298"/>
          </a:xfrm>
          <a:prstGeom prst="rect">
            <a:avLst/>
          </a:prstGeom>
        </p:spPr>
        <p:txBody>
          <a:bodyPr anchor="t" rtlCol="false" tIns="0" lIns="0" bIns="0" rIns="0">
            <a:spAutoFit/>
          </a:bodyPr>
          <a:lstStyle/>
          <a:p>
            <a:pPr algn="l" marL="0" indent="0" lvl="0">
              <a:lnSpc>
                <a:spcPts val="2286"/>
              </a:lnSpc>
            </a:pPr>
            <a:r>
              <a:rPr lang="en-US" sz="1800">
                <a:solidFill>
                  <a:srgbClr val="000000"/>
                </a:solidFill>
                <a:latin typeface="Raleway 2"/>
                <a:ea typeface="Raleway 2"/>
                <a:cs typeface="Raleway 2"/>
                <a:sym typeface="Raleway 2"/>
              </a:rPr>
              <a:t>Depende de que una persona lo recuerde y no se equivoque de período.</a:t>
            </a:r>
          </a:p>
        </p:txBody>
      </p:sp>
      <p:sp>
        <p:nvSpPr>
          <p:cNvPr name="Freeform 54" id="54"/>
          <p:cNvSpPr/>
          <p:nvPr/>
        </p:nvSpPr>
        <p:spPr>
          <a:xfrm flipH="false" flipV="false" rot="-588726">
            <a:off x="16148162" y="7961908"/>
            <a:ext cx="973764" cy="829503"/>
          </a:xfrm>
          <a:custGeom>
            <a:avLst/>
            <a:gdLst/>
            <a:ahLst/>
            <a:cxnLst/>
            <a:rect r="r" b="b" t="t" l="l"/>
            <a:pathLst>
              <a:path h="829503" w="973764">
                <a:moveTo>
                  <a:pt x="0" y="0"/>
                </a:moveTo>
                <a:lnTo>
                  <a:pt x="973764" y="0"/>
                </a:lnTo>
                <a:lnTo>
                  <a:pt x="973764" y="829503"/>
                </a:lnTo>
                <a:lnTo>
                  <a:pt x="0" y="8295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itulo902" id="902"/>
          <p:cNvSpPr txBox="true"/>
          <p:nvPr/>
        </p:nvSpPr>
        <p:spPr>
          <a:xfrm rot="0">
            <a:off x="1005840" y="1188720"/>
            <a:ext cx="5943600" cy="1005840"/>
          </a:xfrm>
          <a:prstGeom prst="rect">
            <a:avLst/>
          </a:prstGeom>
        </p:spPr>
        <p:txBody>
          <a:bodyPr anchor="t" rtlCol="false" tIns="0" lIns="0" bIns="0" rIns="0">
            <a:spAutoFit/>
          </a:bodyPr>
          <a:lstStyle/>
          <a:p>
            <a:pPr algn="l" marL="0" indent="0" lvl="0">
              <a:spcBef>
                <a:spcPct val="0"/>
              </a:spcBef>
            </a:pPr>
            <a:r>
              <a:rPr lang="en-US" b="true" sz="4400" spc="27" u="none">
                <a:solidFill>
                  <a:srgbClr val="000000"/>
                </a:solidFill>
                <a:latin typeface="Raleway 1 Bold"/>
                <a:ea typeface="Raleway 1 Bold"/>
                <a:cs typeface="Raleway 1 Bold"/>
                <a:sym typeface="Raleway 1 Bold"/>
              </a:rPr>
              <a:t>LA SOLUCIÓN</a:t>
            </a:r>
          </a:p>
        </p:txBody>
      </p:sp>
      <p:sp>
        <p:nvSpPr>
          <p:cNvPr name="Titulo903" id="903"/>
          <p:cNvSpPr txBox="true"/>
          <p:nvPr/>
        </p:nvSpPr>
        <p:spPr>
          <a:xfrm rot="0">
            <a:off x="2834640" y="3794760"/>
            <a:ext cx="5394960" cy="457200"/>
          </a:xfrm>
          <a:prstGeom prst="rect">
            <a:avLst/>
          </a:prstGeom>
        </p:spPr>
        <p:txBody>
          <a:bodyPr anchor="t" rtlCol="false" tIns="0" lIns="0" bIns="0" rIns="0">
            <a:spAutoFit/>
          </a:bodyPr>
          <a:lstStyle/>
          <a:p>
            <a:pPr algn="l" marL="0" indent="0" lvl="0">
              <a:spcBef>
                <a:spcPct val="0"/>
              </a:spcBef>
            </a:pPr>
            <a:r>
              <a:rPr lang="en-US" b="true" sz="1700" spc="27" u="none">
                <a:solidFill>
                  <a:srgbClr val="004AAD"/>
                </a:solidFill>
                <a:latin typeface="Raleway 1 Bold"/>
                <a:ea typeface="Raleway 1 Bold"/>
                <a:cs typeface="Raleway 1 Bold"/>
                <a:sym typeface="Raleway 1 Bold"/>
              </a:rPr>
              <a:t>CON aSIIstente</a:t>
            </a:r>
          </a:p>
        </p:txBody>
      </p:sp>
      <p:sp>
        <p:nvSpPr>
          <p:cNvPr name="Titulo904" id="904"/>
          <p:cNvSpPr txBox="true"/>
          <p:nvPr/>
        </p:nvSpPr>
        <p:spPr>
          <a:xfrm rot="0">
            <a:off x="10058400" y="3794760"/>
            <a:ext cx="5394960" cy="457200"/>
          </a:xfrm>
          <a:prstGeom prst="rect">
            <a:avLst/>
          </a:prstGeom>
        </p:spPr>
        <p:txBody>
          <a:bodyPr anchor="t" rtlCol="false" tIns="0" lIns="0" bIns="0" rIns="0">
            <a:spAutoFit/>
          </a:bodyPr>
          <a:lstStyle/>
          <a:p>
            <a:pPr algn="l" marL="0" indent="0" lvl="0">
              <a:spcBef>
                <a:spcPct val="0"/>
              </a:spcBef>
            </a:pPr>
            <a:r>
              <a:rPr lang="en-US" b="true" sz="1700" spc="27" u="none">
                <a:solidFill>
                  <a:srgbClr val="C6302C"/>
                </a:solidFill>
                <a:latin typeface="Raleway 1 Bold"/>
                <a:ea typeface="Raleway 1 Bold"/>
                <a:cs typeface="Raleway 1 Bold"/>
                <a:sym typeface="Raleway 1 Bold"/>
              </a:rPr>
              <a:t>CÓMO SE HACE HOY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6198480" y="2765582"/>
            <a:ext cx="5894255" cy="4468917"/>
          </a:xfrm>
          <a:custGeom>
            <a:avLst/>
            <a:gdLst/>
            <a:ahLst/>
            <a:cxnLst/>
            <a:rect r="r" b="b" t="t" l="l"/>
            <a:pathLst>
              <a:path h="4468917" w="5894255">
                <a:moveTo>
                  <a:pt x="0" y="0"/>
                </a:moveTo>
                <a:lnTo>
                  <a:pt x="5894256" y="0"/>
                </a:lnTo>
                <a:lnTo>
                  <a:pt x="5894256" y="4468917"/>
                </a:lnTo>
                <a:lnTo>
                  <a:pt x="0" y="4468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10800000">
            <a:off x="4767781" y="3242108"/>
            <a:ext cx="1070527" cy="0"/>
          </a:xfrm>
          <a:prstGeom prst="line">
            <a:avLst/>
          </a:prstGeom>
          <a:ln cap="flat" w="38100">
            <a:solidFill>
              <a:srgbClr val="2B2B2B"/>
            </a:solidFill>
            <a:prstDash val="solid"/>
            <a:headEnd type="oval" len="lg" w="lg"/>
            <a:tailEnd type="none" len="sm" w="sm"/>
          </a:ln>
        </p:spPr>
      </p:sp>
      <p:sp>
        <p:nvSpPr>
          <p:cNvPr name="AutoShape 4" id="4"/>
          <p:cNvSpPr/>
          <p:nvPr/>
        </p:nvSpPr>
        <p:spPr>
          <a:xfrm rot="0">
            <a:off x="12422383" y="6862801"/>
            <a:ext cx="1070527" cy="0"/>
          </a:xfrm>
          <a:prstGeom prst="line">
            <a:avLst/>
          </a:prstGeom>
          <a:ln cap="flat" w="38100">
            <a:solidFill>
              <a:srgbClr val="2B2B2B"/>
            </a:solidFill>
            <a:prstDash val="solid"/>
            <a:headEnd type="oval" len="lg" w="lg"/>
            <a:tailEnd type="none" len="sm" w="sm"/>
          </a:ln>
        </p:spPr>
      </p:sp>
      <p:sp>
        <p:nvSpPr>
          <p:cNvPr name="AutoShape 5" id="5"/>
          <p:cNvSpPr/>
          <p:nvPr/>
        </p:nvSpPr>
        <p:spPr>
          <a:xfrm rot="-10800000">
            <a:off x="4767781" y="6862801"/>
            <a:ext cx="1070527" cy="0"/>
          </a:xfrm>
          <a:prstGeom prst="line">
            <a:avLst/>
          </a:prstGeom>
          <a:ln cap="flat" w="38100">
            <a:solidFill>
              <a:srgbClr val="2B2B2B"/>
            </a:solidFill>
            <a:prstDash val="solid"/>
            <a:headEnd type="oval" len="lg" w="lg"/>
            <a:tailEnd type="none" len="sm" w="sm"/>
          </a:ln>
        </p:spPr>
      </p:sp>
      <p:sp>
        <p:nvSpPr>
          <p:cNvPr name="AutoShape 6" id="6"/>
          <p:cNvSpPr/>
          <p:nvPr/>
        </p:nvSpPr>
        <p:spPr>
          <a:xfrm rot="0">
            <a:off x="12422383" y="3242108"/>
            <a:ext cx="1070527" cy="0"/>
          </a:xfrm>
          <a:prstGeom prst="line">
            <a:avLst/>
          </a:prstGeom>
          <a:ln cap="flat" w="38100">
            <a:solidFill>
              <a:srgbClr val="2B2B2B"/>
            </a:solidFill>
            <a:prstDash val="solid"/>
            <a:headEnd type="oval" len="lg" w="lg"/>
            <a:tailEnd type="none" len="sm" w="sm"/>
          </a:ln>
        </p:spPr>
      </p:sp>
      <p:grpSp>
        <p:nvGrpSpPr>
          <p:cNvPr name="Group 7" id="7"/>
          <p:cNvGrpSpPr/>
          <p:nvPr/>
        </p:nvGrpSpPr>
        <p:grpSpPr>
          <a:xfrm rot="-5400000">
            <a:off x="633801" y="2332029"/>
            <a:ext cx="456234" cy="154472"/>
            <a:chOff x="0" y="0"/>
            <a:chExt cx="120160" cy="40684"/>
          </a:xfrm>
        </p:grpSpPr>
        <p:sp>
          <p:nvSpPr>
            <p:cNvPr name="Freeform 8" id="8"/>
            <p:cNvSpPr/>
            <p:nvPr/>
          </p:nvSpPr>
          <p:spPr>
            <a:xfrm flipH="false" flipV="false" rot="0">
              <a:off x="0" y="0"/>
              <a:ext cx="120160" cy="40684"/>
            </a:xfrm>
            <a:custGeom>
              <a:avLst/>
              <a:gdLst/>
              <a:ahLst/>
              <a:cxnLst/>
              <a:rect r="r" b="b" t="t" l="l"/>
              <a:pathLst>
                <a:path h="40684" w="120160">
                  <a:moveTo>
                    <a:pt x="0" y="0"/>
                  </a:moveTo>
                  <a:lnTo>
                    <a:pt x="120160" y="0"/>
                  </a:lnTo>
                  <a:lnTo>
                    <a:pt x="120160" y="40684"/>
                  </a:lnTo>
                  <a:lnTo>
                    <a:pt x="0" y="40684"/>
                  </a:lnTo>
                  <a:close/>
                </a:path>
              </a:pathLst>
            </a:custGeom>
            <a:solidFill>
              <a:srgbClr val="FF914D"/>
            </a:solidFill>
          </p:spPr>
        </p:sp>
        <p:sp>
          <p:nvSpPr>
            <p:cNvPr name="TextBox 9" id="9"/>
            <p:cNvSpPr txBox="true"/>
            <p:nvPr/>
          </p:nvSpPr>
          <p:spPr>
            <a:xfrm>
              <a:off x="0" y="-9525"/>
              <a:ext cx="120160" cy="50209"/>
            </a:xfrm>
            <a:prstGeom prst="rect">
              <a:avLst/>
            </a:prstGeom>
          </p:spPr>
          <p:txBody>
            <a:bodyPr anchor="ctr" rtlCol="false" tIns="50800" lIns="50800" bIns="50800" rIns="50800"/>
            <a:lstStyle/>
            <a:p>
              <a:pPr algn="ctr">
                <a:lnSpc>
                  <a:spcPts val="3077"/>
                </a:lnSpc>
              </a:pPr>
            </a:p>
          </p:txBody>
        </p:sp>
      </p:grpSp>
      <p:grpSp>
        <p:nvGrpSpPr>
          <p:cNvPr name="Group 10" id="10"/>
          <p:cNvGrpSpPr/>
          <p:nvPr/>
        </p:nvGrpSpPr>
        <p:grpSpPr>
          <a:xfrm rot="-5400000">
            <a:off x="13542054" y="2332029"/>
            <a:ext cx="456234" cy="154472"/>
            <a:chOff x="0" y="0"/>
            <a:chExt cx="120160" cy="40684"/>
          </a:xfrm>
        </p:grpSpPr>
        <p:sp>
          <p:nvSpPr>
            <p:cNvPr name="Freeform 11" id="11"/>
            <p:cNvSpPr/>
            <p:nvPr/>
          </p:nvSpPr>
          <p:spPr>
            <a:xfrm flipH="false" flipV="false" rot="0">
              <a:off x="0" y="0"/>
              <a:ext cx="120160" cy="40684"/>
            </a:xfrm>
            <a:custGeom>
              <a:avLst/>
              <a:gdLst/>
              <a:ahLst/>
              <a:cxnLst/>
              <a:rect r="r" b="b" t="t" l="l"/>
              <a:pathLst>
                <a:path h="40684" w="120160">
                  <a:moveTo>
                    <a:pt x="0" y="0"/>
                  </a:moveTo>
                  <a:lnTo>
                    <a:pt x="120160" y="0"/>
                  </a:lnTo>
                  <a:lnTo>
                    <a:pt x="120160" y="40684"/>
                  </a:lnTo>
                  <a:lnTo>
                    <a:pt x="0" y="40684"/>
                  </a:lnTo>
                  <a:close/>
                </a:path>
              </a:pathLst>
            </a:custGeom>
            <a:solidFill>
              <a:srgbClr val="FF914D"/>
            </a:solidFill>
          </p:spPr>
        </p:sp>
        <p:sp>
          <p:nvSpPr>
            <p:cNvPr name="TextBox 12" id="12"/>
            <p:cNvSpPr txBox="true"/>
            <p:nvPr/>
          </p:nvSpPr>
          <p:spPr>
            <a:xfrm>
              <a:off x="0" y="-9525"/>
              <a:ext cx="120160" cy="50209"/>
            </a:xfrm>
            <a:prstGeom prst="rect">
              <a:avLst/>
            </a:prstGeom>
          </p:spPr>
          <p:txBody>
            <a:bodyPr anchor="ctr" rtlCol="false" tIns="50800" lIns="50800" bIns="50800" rIns="50800"/>
            <a:lstStyle/>
            <a:p>
              <a:pPr algn="ctr">
                <a:lnSpc>
                  <a:spcPts val="3077"/>
                </a:lnSpc>
              </a:pPr>
            </a:p>
          </p:txBody>
        </p:sp>
      </p:grpSp>
      <p:grpSp>
        <p:nvGrpSpPr>
          <p:cNvPr name="Group 13" id="13"/>
          <p:cNvGrpSpPr/>
          <p:nvPr/>
        </p:nvGrpSpPr>
        <p:grpSpPr>
          <a:xfrm rot="-5400000">
            <a:off x="633801" y="5952721"/>
            <a:ext cx="456234" cy="154472"/>
            <a:chOff x="0" y="0"/>
            <a:chExt cx="120160" cy="40684"/>
          </a:xfrm>
        </p:grpSpPr>
        <p:sp>
          <p:nvSpPr>
            <p:cNvPr name="Freeform 14" id="14"/>
            <p:cNvSpPr/>
            <p:nvPr/>
          </p:nvSpPr>
          <p:spPr>
            <a:xfrm flipH="false" flipV="false" rot="0">
              <a:off x="0" y="0"/>
              <a:ext cx="120160" cy="40684"/>
            </a:xfrm>
            <a:custGeom>
              <a:avLst/>
              <a:gdLst/>
              <a:ahLst/>
              <a:cxnLst/>
              <a:rect r="r" b="b" t="t" l="l"/>
              <a:pathLst>
                <a:path h="40684" w="120160">
                  <a:moveTo>
                    <a:pt x="0" y="0"/>
                  </a:moveTo>
                  <a:lnTo>
                    <a:pt x="120160" y="0"/>
                  </a:lnTo>
                  <a:lnTo>
                    <a:pt x="120160" y="40684"/>
                  </a:lnTo>
                  <a:lnTo>
                    <a:pt x="0" y="40684"/>
                  </a:lnTo>
                  <a:close/>
                </a:path>
              </a:pathLst>
            </a:custGeom>
            <a:solidFill>
              <a:srgbClr val="FF914D"/>
            </a:solidFill>
          </p:spPr>
        </p:sp>
        <p:sp>
          <p:nvSpPr>
            <p:cNvPr name="TextBox 15" id="15"/>
            <p:cNvSpPr txBox="true"/>
            <p:nvPr/>
          </p:nvSpPr>
          <p:spPr>
            <a:xfrm>
              <a:off x="0" y="-9525"/>
              <a:ext cx="120160" cy="50209"/>
            </a:xfrm>
            <a:prstGeom prst="rect">
              <a:avLst/>
            </a:prstGeom>
          </p:spPr>
          <p:txBody>
            <a:bodyPr anchor="ctr" rtlCol="false" tIns="50800" lIns="50800" bIns="50800" rIns="50800"/>
            <a:lstStyle/>
            <a:p>
              <a:pPr algn="ctr">
                <a:lnSpc>
                  <a:spcPts val="3077"/>
                </a:lnSpc>
              </a:pPr>
            </a:p>
          </p:txBody>
        </p:sp>
      </p:grpSp>
      <p:grpSp>
        <p:nvGrpSpPr>
          <p:cNvPr name="Group 16" id="16"/>
          <p:cNvGrpSpPr/>
          <p:nvPr/>
        </p:nvGrpSpPr>
        <p:grpSpPr>
          <a:xfrm rot="-5400000">
            <a:off x="13542054" y="5952721"/>
            <a:ext cx="456234" cy="154472"/>
            <a:chOff x="0" y="0"/>
            <a:chExt cx="120160" cy="40684"/>
          </a:xfrm>
        </p:grpSpPr>
        <p:sp>
          <p:nvSpPr>
            <p:cNvPr name="Freeform 17" id="17"/>
            <p:cNvSpPr/>
            <p:nvPr/>
          </p:nvSpPr>
          <p:spPr>
            <a:xfrm flipH="false" flipV="false" rot="0">
              <a:off x="0" y="0"/>
              <a:ext cx="120160" cy="40684"/>
            </a:xfrm>
            <a:custGeom>
              <a:avLst/>
              <a:gdLst/>
              <a:ahLst/>
              <a:cxnLst/>
              <a:rect r="r" b="b" t="t" l="l"/>
              <a:pathLst>
                <a:path h="40684" w="120160">
                  <a:moveTo>
                    <a:pt x="0" y="0"/>
                  </a:moveTo>
                  <a:lnTo>
                    <a:pt x="120160" y="0"/>
                  </a:lnTo>
                  <a:lnTo>
                    <a:pt x="120160" y="40684"/>
                  </a:lnTo>
                  <a:lnTo>
                    <a:pt x="0" y="40684"/>
                  </a:lnTo>
                  <a:close/>
                </a:path>
              </a:pathLst>
            </a:custGeom>
            <a:solidFill>
              <a:srgbClr val="FF914D"/>
            </a:solidFill>
          </p:spPr>
        </p:sp>
        <p:sp>
          <p:nvSpPr>
            <p:cNvPr name="TextBox 18" id="18"/>
            <p:cNvSpPr txBox="true"/>
            <p:nvPr/>
          </p:nvSpPr>
          <p:spPr>
            <a:xfrm>
              <a:off x="0" y="-9525"/>
              <a:ext cx="120160" cy="50209"/>
            </a:xfrm>
            <a:prstGeom prst="rect">
              <a:avLst/>
            </a:prstGeom>
          </p:spPr>
          <p:txBody>
            <a:bodyPr anchor="ctr" rtlCol="false" tIns="50800" lIns="50800" bIns="50800" rIns="50800"/>
            <a:lstStyle/>
            <a:p>
              <a:pPr algn="ctr">
                <a:lnSpc>
                  <a:spcPts val="3077"/>
                </a:lnSpc>
              </a:pPr>
            </a:p>
          </p:txBody>
        </p:sp>
      </p:grpSp>
      <p:sp>
        <p:nvSpPr>
          <p:cNvPr name="TextBox 19" id="19"/>
          <p:cNvSpPr txBox="true"/>
          <p:nvPr/>
        </p:nvSpPr>
        <p:spPr>
          <a:xfrm rot="0">
            <a:off x="1135015" y="2726210"/>
            <a:ext cx="3460049" cy="175895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Se autentica ante el SII y la TGR y descarga el RCV, el detalle del F29 y el certificado de deuda fiscal.</a:t>
            </a:r>
          </a:p>
        </p:txBody>
      </p:sp>
      <p:sp>
        <p:nvSpPr>
          <p:cNvPr name="TextBox 20" id="20"/>
          <p:cNvSpPr txBox="true"/>
          <p:nvPr/>
        </p:nvSpPr>
        <p:spPr>
          <a:xfrm rot="0">
            <a:off x="14043269" y="2726210"/>
            <a:ext cx="3460049" cy="175895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Guarda el histórico en un modelo relacional y conserva los archivos originales con trazabilidad por fecha.</a:t>
            </a:r>
          </a:p>
        </p:txBody>
      </p:sp>
      <p:sp>
        <p:nvSpPr>
          <p:cNvPr name="TextBox 21" id="21"/>
          <p:cNvSpPr txBox="true"/>
          <p:nvPr/>
        </p:nvSpPr>
        <p:spPr>
          <a:xfrm rot="0">
            <a:off x="1135015" y="6346902"/>
            <a:ext cx="3460049" cy="175895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Permite lanzar las descargas, seguir el estado de cada corrida y consultar los resultados en tableros.</a:t>
            </a:r>
          </a:p>
        </p:txBody>
      </p:sp>
      <p:sp>
        <p:nvSpPr>
          <p:cNvPr name="TextBox 22" id="22"/>
          <p:cNvSpPr txBox="true"/>
          <p:nvPr/>
        </p:nvSpPr>
        <p:spPr>
          <a:xfrm rot="0">
            <a:off x="14043269" y="6346902"/>
            <a:ext cx="3460049" cy="1758950"/>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Resguarda las credenciales en una bóveda cifrada y notifica variaciones de deuda o fallos de ejecución.</a:t>
            </a:r>
          </a:p>
        </p:txBody>
      </p:sp>
      <p:sp>
        <p:nvSpPr>
          <p:cNvPr name="TextBox 23" id="23"/>
          <p:cNvSpPr txBox="true"/>
          <p:nvPr/>
        </p:nvSpPr>
        <p:spPr>
          <a:xfrm rot="0">
            <a:off x="1097280" y="2156548"/>
            <a:ext cx="3474720"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EXTRACCIÓN</a:t>
            </a:r>
          </a:p>
        </p:txBody>
      </p:sp>
      <p:sp>
        <p:nvSpPr>
          <p:cNvPr name="TextBox 24" id="24"/>
          <p:cNvSpPr txBox="true"/>
          <p:nvPr/>
        </p:nvSpPr>
        <p:spPr>
          <a:xfrm rot="0">
            <a:off x="14043269" y="2156548"/>
            <a:ext cx="3474720"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CAPA DE DATOS</a:t>
            </a:r>
          </a:p>
        </p:txBody>
      </p:sp>
      <p:sp>
        <p:nvSpPr>
          <p:cNvPr name="TextBox 25" id="25"/>
          <p:cNvSpPr txBox="true"/>
          <p:nvPr/>
        </p:nvSpPr>
        <p:spPr>
          <a:xfrm rot="0">
            <a:off x="1097280" y="5777241"/>
            <a:ext cx="3474720"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APLICACIÓN WEB</a:t>
            </a:r>
          </a:p>
        </p:txBody>
      </p:sp>
      <p:sp>
        <p:nvSpPr>
          <p:cNvPr name="TextBox 26" id="26"/>
          <p:cNvSpPr txBox="true"/>
          <p:nvPr/>
        </p:nvSpPr>
        <p:spPr>
          <a:xfrm rot="0">
            <a:off x="14043269" y="5777241"/>
            <a:ext cx="3474720"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SEGURIDAD</a:t>
            </a:r>
          </a:p>
        </p:txBody>
      </p:sp>
      <p:sp>
        <p:nvSpPr>
          <p:cNvPr name="Titulo905" id="905"/>
          <p:cNvSpPr txBox="true"/>
          <p:nvPr/>
        </p:nvSpPr>
        <p:spPr>
          <a:xfrm rot="0">
            <a:off x="5852160" y="731520"/>
            <a:ext cx="5120640" cy="914400"/>
          </a:xfrm>
          <a:prstGeom prst="rect">
            <a:avLst/>
          </a:prstGeom>
        </p:spPr>
        <p:txBody>
          <a:bodyPr anchor="t" rtlCol="false" tIns="0" lIns="0" bIns="0" rIns="0">
            <a:spAutoFit/>
          </a:bodyPr>
          <a:lstStyle/>
          <a:p>
            <a:pPr algn="ctr" marL="0" indent="0" lvl="0">
              <a:spcBef>
                <a:spcPct val="0"/>
              </a:spcBef>
            </a:pPr>
            <a:r>
              <a:rPr lang="en-US" b="true" sz="4000" spc="27" u="none">
                <a:solidFill>
                  <a:srgbClr val="000000"/>
                </a:solidFill>
                <a:latin typeface="Raleway 1 Bold"/>
                <a:ea typeface="Raleway 1 Bold"/>
                <a:cs typeface="Raleway 1 Bold"/>
                <a:sym typeface="Raleway 1 Bold"/>
              </a:rPr>
              <a:t>ARQUITECTURA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9875703">
            <a:off x="-2848969" y="-412376"/>
            <a:ext cx="6466670" cy="12500685"/>
            <a:chOff x="0" y="0"/>
            <a:chExt cx="1703156" cy="3292362"/>
          </a:xfrm>
        </p:grpSpPr>
        <p:sp>
          <p:nvSpPr>
            <p:cNvPr name="Freeform 3" id="3"/>
            <p:cNvSpPr/>
            <p:nvPr/>
          </p:nvSpPr>
          <p:spPr>
            <a:xfrm flipH="false" flipV="false" rot="0">
              <a:off x="0" y="0"/>
              <a:ext cx="1703156" cy="3292361"/>
            </a:xfrm>
            <a:custGeom>
              <a:avLst/>
              <a:gdLst/>
              <a:ahLst/>
              <a:cxnLst/>
              <a:rect r="r" b="b" t="t" l="l"/>
              <a:pathLst>
                <a:path h="3292361" w="1703156">
                  <a:moveTo>
                    <a:pt x="0" y="0"/>
                  </a:moveTo>
                  <a:lnTo>
                    <a:pt x="1703156" y="0"/>
                  </a:lnTo>
                  <a:lnTo>
                    <a:pt x="1703156" y="3292361"/>
                  </a:lnTo>
                  <a:lnTo>
                    <a:pt x="0" y="3292361"/>
                  </a:lnTo>
                  <a:close/>
                </a:path>
              </a:pathLst>
            </a:custGeom>
            <a:solidFill>
              <a:srgbClr val="004AAD"/>
            </a:solidFill>
          </p:spPr>
        </p:sp>
        <p:sp>
          <p:nvSpPr>
            <p:cNvPr name="TextBox 4" id="4"/>
            <p:cNvSpPr txBox="true"/>
            <p:nvPr/>
          </p:nvSpPr>
          <p:spPr>
            <a:xfrm>
              <a:off x="0" y="-9525"/>
              <a:ext cx="1703156" cy="3301887"/>
            </a:xfrm>
            <a:prstGeom prst="rect">
              <a:avLst/>
            </a:prstGeom>
          </p:spPr>
          <p:txBody>
            <a:bodyPr anchor="ctr" rtlCol="false" tIns="50800" lIns="50800" bIns="50800" rIns="50800"/>
            <a:lstStyle/>
            <a:p>
              <a:pPr algn="ctr">
                <a:lnSpc>
                  <a:spcPts val="3077"/>
                </a:lnSpc>
              </a:pPr>
            </a:p>
          </p:txBody>
        </p:sp>
      </p:grpSp>
      <p:sp>
        <p:nvSpPr>
          <p:cNvPr name="Freeform 5" id="5"/>
          <p:cNvSpPr/>
          <p:nvPr/>
        </p:nvSpPr>
        <p:spPr>
          <a:xfrm flipH="false" flipV="false" rot="0">
            <a:off x="9728528" y="2265847"/>
            <a:ext cx="7334928" cy="5587881"/>
          </a:xfrm>
          <a:custGeom>
            <a:avLst/>
            <a:gdLst/>
            <a:ahLst/>
            <a:cxnLst/>
            <a:rect r="r" b="b" t="t" l="l"/>
            <a:pathLst>
              <a:path h="5587881" w="7334928">
                <a:moveTo>
                  <a:pt x="0" y="0"/>
                </a:moveTo>
                <a:lnTo>
                  <a:pt x="7334928" y="0"/>
                </a:lnTo>
                <a:lnTo>
                  <a:pt x="7334928" y="5587881"/>
                </a:lnTo>
                <a:lnTo>
                  <a:pt x="0" y="55878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919051" y="2992208"/>
            <a:ext cx="1004978" cy="1004951"/>
            <a:chOff x="0" y="0"/>
            <a:chExt cx="1339971" cy="1339935"/>
          </a:xfrm>
        </p:grpSpPr>
        <p:grpSp>
          <p:nvGrpSpPr>
            <p:cNvPr name="Group 7" id="7"/>
            <p:cNvGrpSpPr/>
            <p:nvPr/>
          </p:nvGrpSpPr>
          <p:grpSpPr>
            <a:xfrm rot="0">
              <a:off x="0" y="0"/>
              <a:ext cx="1339971" cy="1339935"/>
              <a:chOff x="0" y="0"/>
              <a:chExt cx="812800" cy="812778"/>
            </a:xfrm>
          </p:grpSpPr>
          <p:sp>
            <p:nvSpPr>
              <p:cNvPr name="Freeform 8" id="8"/>
              <p:cNvSpPr/>
              <p:nvPr/>
            </p:nvSpPr>
            <p:spPr>
              <a:xfrm flipH="false" flipV="false" rot="0">
                <a:off x="0" y="0"/>
                <a:ext cx="812800" cy="812778"/>
              </a:xfrm>
              <a:custGeom>
                <a:avLst/>
                <a:gdLst/>
                <a:ahLst/>
                <a:cxnLst/>
                <a:rect r="r" b="b" t="t" l="l"/>
                <a:pathLst>
                  <a:path h="812778" w="812800">
                    <a:moveTo>
                      <a:pt x="406400" y="0"/>
                    </a:moveTo>
                    <a:cubicBezTo>
                      <a:pt x="181951" y="0"/>
                      <a:pt x="0" y="181947"/>
                      <a:pt x="0" y="406389"/>
                    </a:cubicBezTo>
                    <a:cubicBezTo>
                      <a:pt x="0" y="630832"/>
                      <a:pt x="181951" y="812778"/>
                      <a:pt x="406400" y="812778"/>
                    </a:cubicBezTo>
                    <a:cubicBezTo>
                      <a:pt x="630849" y="812778"/>
                      <a:pt x="812800" y="630832"/>
                      <a:pt x="812800" y="406389"/>
                    </a:cubicBezTo>
                    <a:cubicBezTo>
                      <a:pt x="812800" y="181947"/>
                      <a:pt x="630849" y="0"/>
                      <a:pt x="406400" y="0"/>
                    </a:cubicBezTo>
                    <a:close/>
                  </a:path>
                </a:pathLst>
              </a:custGeom>
              <a:solidFill>
                <a:srgbClr val="004AAD"/>
              </a:solidFill>
            </p:spPr>
          </p:sp>
          <p:sp>
            <p:nvSpPr>
              <p:cNvPr name="TextBox 9" id="9"/>
              <p:cNvSpPr txBox="true"/>
              <p:nvPr/>
            </p:nvSpPr>
            <p:spPr>
              <a:xfrm>
                <a:off x="76200" y="66673"/>
                <a:ext cx="660400" cy="669907"/>
              </a:xfrm>
              <a:prstGeom prst="rect">
                <a:avLst/>
              </a:prstGeom>
            </p:spPr>
            <p:txBody>
              <a:bodyPr anchor="ctr" rtlCol="false" tIns="50800" lIns="50800" bIns="50800" rIns="50800"/>
              <a:lstStyle/>
              <a:p>
                <a:pPr algn="ctr">
                  <a:lnSpc>
                    <a:spcPts val="3143"/>
                  </a:lnSpc>
                </a:pPr>
              </a:p>
            </p:txBody>
          </p:sp>
        </p:grpSp>
        <p:sp>
          <p:nvSpPr>
            <p:cNvPr name="TextBox 10" id="10"/>
            <p:cNvSpPr txBox="true"/>
            <p:nvPr/>
          </p:nvSpPr>
          <p:spPr>
            <a:xfrm rot="0">
              <a:off x="393645" y="-123825"/>
              <a:ext cx="552681" cy="1244843"/>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1</a:t>
              </a:r>
            </a:p>
          </p:txBody>
        </p:sp>
      </p:grpSp>
      <p:grpSp>
        <p:nvGrpSpPr>
          <p:cNvPr name="Group 11" id="11"/>
          <p:cNvGrpSpPr/>
          <p:nvPr/>
        </p:nvGrpSpPr>
        <p:grpSpPr>
          <a:xfrm rot="0">
            <a:off x="15687803" y="2489719"/>
            <a:ext cx="1004978" cy="1004951"/>
            <a:chOff x="0" y="0"/>
            <a:chExt cx="1339971" cy="1339935"/>
          </a:xfrm>
        </p:grpSpPr>
        <p:grpSp>
          <p:nvGrpSpPr>
            <p:cNvPr name="Group 12" id="12"/>
            <p:cNvGrpSpPr/>
            <p:nvPr/>
          </p:nvGrpSpPr>
          <p:grpSpPr>
            <a:xfrm rot="0">
              <a:off x="0" y="0"/>
              <a:ext cx="1339971" cy="1339935"/>
              <a:chOff x="0" y="0"/>
              <a:chExt cx="812800" cy="812778"/>
            </a:xfrm>
          </p:grpSpPr>
          <p:sp>
            <p:nvSpPr>
              <p:cNvPr name="Freeform 13" id="13"/>
              <p:cNvSpPr/>
              <p:nvPr/>
            </p:nvSpPr>
            <p:spPr>
              <a:xfrm flipH="false" flipV="false" rot="0">
                <a:off x="0" y="0"/>
                <a:ext cx="812800" cy="812778"/>
              </a:xfrm>
              <a:custGeom>
                <a:avLst/>
                <a:gdLst/>
                <a:ahLst/>
                <a:cxnLst/>
                <a:rect r="r" b="b" t="t" l="l"/>
                <a:pathLst>
                  <a:path h="812778" w="812800">
                    <a:moveTo>
                      <a:pt x="406400" y="0"/>
                    </a:moveTo>
                    <a:cubicBezTo>
                      <a:pt x="181951" y="0"/>
                      <a:pt x="0" y="181947"/>
                      <a:pt x="0" y="406389"/>
                    </a:cubicBezTo>
                    <a:cubicBezTo>
                      <a:pt x="0" y="630832"/>
                      <a:pt x="181951" y="812778"/>
                      <a:pt x="406400" y="812778"/>
                    </a:cubicBezTo>
                    <a:cubicBezTo>
                      <a:pt x="630849" y="812778"/>
                      <a:pt x="812800" y="630832"/>
                      <a:pt x="812800" y="406389"/>
                    </a:cubicBezTo>
                    <a:cubicBezTo>
                      <a:pt x="812800" y="181947"/>
                      <a:pt x="630849" y="0"/>
                      <a:pt x="406400" y="0"/>
                    </a:cubicBezTo>
                    <a:close/>
                  </a:path>
                </a:pathLst>
              </a:custGeom>
              <a:solidFill>
                <a:srgbClr val="004AAD"/>
              </a:solidFill>
            </p:spPr>
          </p:sp>
          <p:sp>
            <p:nvSpPr>
              <p:cNvPr name="TextBox 14" id="14"/>
              <p:cNvSpPr txBox="true"/>
              <p:nvPr/>
            </p:nvSpPr>
            <p:spPr>
              <a:xfrm>
                <a:off x="76200" y="66673"/>
                <a:ext cx="660400" cy="669907"/>
              </a:xfrm>
              <a:prstGeom prst="rect">
                <a:avLst/>
              </a:prstGeom>
            </p:spPr>
            <p:txBody>
              <a:bodyPr anchor="ctr" rtlCol="false" tIns="50800" lIns="50800" bIns="50800" rIns="50800"/>
              <a:lstStyle/>
              <a:p>
                <a:pPr algn="ctr">
                  <a:lnSpc>
                    <a:spcPts val="3143"/>
                  </a:lnSpc>
                </a:pPr>
              </a:p>
            </p:txBody>
          </p:sp>
        </p:grpSp>
        <p:sp>
          <p:nvSpPr>
            <p:cNvPr name="TextBox 15" id="15"/>
            <p:cNvSpPr txBox="true"/>
            <p:nvPr/>
          </p:nvSpPr>
          <p:spPr>
            <a:xfrm rot="0">
              <a:off x="393645" y="-123825"/>
              <a:ext cx="552681" cy="1244843"/>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2</a:t>
              </a:r>
            </a:p>
          </p:txBody>
        </p:sp>
      </p:grpSp>
      <p:grpSp>
        <p:nvGrpSpPr>
          <p:cNvPr name="Group 16" id="16"/>
          <p:cNvGrpSpPr/>
          <p:nvPr/>
        </p:nvGrpSpPr>
        <p:grpSpPr>
          <a:xfrm rot="0">
            <a:off x="12893503" y="4749290"/>
            <a:ext cx="1004978" cy="1004951"/>
            <a:chOff x="0" y="0"/>
            <a:chExt cx="1339971" cy="1339935"/>
          </a:xfrm>
        </p:grpSpPr>
        <p:grpSp>
          <p:nvGrpSpPr>
            <p:cNvPr name="Group 17" id="17"/>
            <p:cNvGrpSpPr/>
            <p:nvPr/>
          </p:nvGrpSpPr>
          <p:grpSpPr>
            <a:xfrm rot="0">
              <a:off x="0" y="0"/>
              <a:ext cx="1339971" cy="1339935"/>
              <a:chOff x="0" y="0"/>
              <a:chExt cx="812800" cy="812778"/>
            </a:xfrm>
          </p:grpSpPr>
          <p:sp>
            <p:nvSpPr>
              <p:cNvPr name="Freeform 18" id="18"/>
              <p:cNvSpPr/>
              <p:nvPr/>
            </p:nvSpPr>
            <p:spPr>
              <a:xfrm flipH="false" flipV="false" rot="0">
                <a:off x="0" y="0"/>
                <a:ext cx="812800" cy="812778"/>
              </a:xfrm>
              <a:custGeom>
                <a:avLst/>
                <a:gdLst/>
                <a:ahLst/>
                <a:cxnLst/>
                <a:rect r="r" b="b" t="t" l="l"/>
                <a:pathLst>
                  <a:path h="812778" w="812800">
                    <a:moveTo>
                      <a:pt x="406400" y="0"/>
                    </a:moveTo>
                    <a:cubicBezTo>
                      <a:pt x="181951" y="0"/>
                      <a:pt x="0" y="181947"/>
                      <a:pt x="0" y="406389"/>
                    </a:cubicBezTo>
                    <a:cubicBezTo>
                      <a:pt x="0" y="630832"/>
                      <a:pt x="181951" y="812778"/>
                      <a:pt x="406400" y="812778"/>
                    </a:cubicBezTo>
                    <a:cubicBezTo>
                      <a:pt x="630849" y="812778"/>
                      <a:pt x="812800" y="630832"/>
                      <a:pt x="812800" y="406389"/>
                    </a:cubicBezTo>
                    <a:cubicBezTo>
                      <a:pt x="812800" y="181947"/>
                      <a:pt x="630849" y="0"/>
                      <a:pt x="406400" y="0"/>
                    </a:cubicBezTo>
                    <a:close/>
                  </a:path>
                </a:pathLst>
              </a:custGeom>
              <a:solidFill>
                <a:srgbClr val="004AAD"/>
              </a:solidFill>
            </p:spPr>
          </p:sp>
          <p:sp>
            <p:nvSpPr>
              <p:cNvPr name="TextBox 19" id="19"/>
              <p:cNvSpPr txBox="true"/>
              <p:nvPr/>
            </p:nvSpPr>
            <p:spPr>
              <a:xfrm>
                <a:off x="76200" y="66673"/>
                <a:ext cx="660400" cy="669907"/>
              </a:xfrm>
              <a:prstGeom prst="rect">
                <a:avLst/>
              </a:prstGeom>
            </p:spPr>
            <p:txBody>
              <a:bodyPr anchor="ctr" rtlCol="false" tIns="50800" lIns="50800" bIns="50800" rIns="50800"/>
              <a:lstStyle/>
              <a:p>
                <a:pPr algn="ctr">
                  <a:lnSpc>
                    <a:spcPts val="3143"/>
                  </a:lnSpc>
                </a:pPr>
              </a:p>
            </p:txBody>
          </p:sp>
        </p:grpSp>
        <p:sp>
          <p:nvSpPr>
            <p:cNvPr name="TextBox 20" id="20"/>
            <p:cNvSpPr txBox="true"/>
            <p:nvPr/>
          </p:nvSpPr>
          <p:spPr>
            <a:xfrm rot="0">
              <a:off x="393645" y="-123825"/>
              <a:ext cx="552681" cy="1244843"/>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3</a:t>
              </a:r>
            </a:p>
          </p:txBody>
        </p:sp>
      </p:grpSp>
      <p:grpSp>
        <p:nvGrpSpPr>
          <p:cNvPr name="Group 21" id="21"/>
          <p:cNvGrpSpPr/>
          <p:nvPr/>
        </p:nvGrpSpPr>
        <p:grpSpPr>
          <a:xfrm rot="0">
            <a:off x="15687803" y="6426850"/>
            <a:ext cx="1004978" cy="1004951"/>
            <a:chOff x="0" y="0"/>
            <a:chExt cx="1339971" cy="1339935"/>
          </a:xfrm>
        </p:grpSpPr>
        <p:grpSp>
          <p:nvGrpSpPr>
            <p:cNvPr name="Group 22" id="22"/>
            <p:cNvGrpSpPr/>
            <p:nvPr/>
          </p:nvGrpSpPr>
          <p:grpSpPr>
            <a:xfrm rot="0">
              <a:off x="0" y="0"/>
              <a:ext cx="1339971" cy="1339935"/>
              <a:chOff x="0" y="0"/>
              <a:chExt cx="812800" cy="812778"/>
            </a:xfrm>
          </p:grpSpPr>
          <p:sp>
            <p:nvSpPr>
              <p:cNvPr name="Freeform 23" id="23"/>
              <p:cNvSpPr/>
              <p:nvPr/>
            </p:nvSpPr>
            <p:spPr>
              <a:xfrm flipH="false" flipV="false" rot="0">
                <a:off x="0" y="0"/>
                <a:ext cx="812800" cy="812778"/>
              </a:xfrm>
              <a:custGeom>
                <a:avLst/>
                <a:gdLst/>
                <a:ahLst/>
                <a:cxnLst/>
                <a:rect r="r" b="b" t="t" l="l"/>
                <a:pathLst>
                  <a:path h="812778" w="812800">
                    <a:moveTo>
                      <a:pt x="406400" y="0"/>
                    </a:moveTo>
                    <a:cubicBezTo>
                      <a:pt x="181951" y="0"/>
                      <a:pt x="0" y="181947"/>
                      <a:pt x="0" y="406389"/>
                    </a:cubicBezTo>
                    <a:cubicBezTo>
                      <a:pt x="0" y="630832"/>
                      <a:pt x="181951" y="812778"/>
                      <a:pt x="406400" y="812778"/>
                    </a:cubicBezTo>
                    <a:cubicBezTo>
                      <a:pt x="630849" y="812778"/>
                      <a:pt x="812800" y="630832"/>
                      <a:pt x="812800" y="406389"/>
                    </a:cubicBezTo>
                    <a:cubicBezTo>
                      <a:pt x="812800" y="181947"/>
                      <a:pt x="630849" y="0"/>
                      <a:pt x="406400" y="0"/>
                    </a:cubicBezTo>
                    <a:close/>
                  </a:path>
                </a:pathLst>
              </a:custGeom>
              <a:solidFill>
                <a:srgbClr val="004AAD"/>
              </a:solidFill>
            </p:spPr>
          </p:sp>
          <p:sp>
            <p:nvSpPr>
              <p:cNvPr name="TextBox 24" id="24"/>
              <p:cNvSpPr txBox="true"/>
              <p:nvPr/>
            </p:nvSpPr>
            <p:spPr>
              <a:xfrm>
                <a:off x="76200" y="66673"/>
                <a:ext cx="660400" cy="669907"/>
              </a:xfrm>
              <a:prstGeom prst="rect">
                <a:avLst/>
              </a:prstGeom>
            </p:spPr>
            <p:txBody>
              <a:bodyPr anchor="ctr" rtlCol="false" tIns="50800" lIns="50800" bIns="50800" rIns="50800"/>
              <a:lstStyle/>
              <a:p>
                <a:pPr algn="ctr">
                  <a:lnSpc>
                    <a:spcPts val="3143"/>
                  </a:lnSpc>
                </a:pPr>
              </a:p>
            </p:txBody>
          </p:sp>
        </p:grpSp>
        <p:sp>
          <p:nvSpPr>
            <p:cNvPr name="TextBox 25" id="25"/>
            <p:cNvSpPr txBox="true"/>
            <p:nvPr/>
          </p:nvSpPr>
          <p:spPr>
            <a:xfrm rot="0">
              <a:off x="393645" y="-123825"/>
              <a:ext cx="552681" cy="1244843"/>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5</a:t>
              </a:r>
            </a:p>
          </p:txBody>
        </p:sp>
      </p:grpSp>
      <p:grpSp>
        <p:nvGrpSpPr>
          <p:cNvPr name="Group 26" id="26"/>
          <p:cNvGrpSpPr/>
          <p:nvPr/>
        </p:nvGrpSpPr>
        <p:grpSpPr>
          <a:xfrm rot="0">
            <a:off x="10421540" y="6221434"/>
            <a:ext cx="1004978" cy="1004951"/>
            <a:chOff x="0" y="0"/>
            <a:chExt cx="1339971" cy="1339935"/>
          </a:xfrm>
        </p:grpSpPr>
        <p:grpSp>
          <p:nvGrpSpPr>
            <p:cNvPr name="Group 27" id="27"/>
            <p:cNvGrpSpPr/>
            <p:nvPr/>
          </p:nvGrpSpPr>
          <p:grpSpPr>
            <a:xfrm rot="0">
              <a:off x="0" y="0"/>
              <a:ext cx="1339971" cy="1339935"/>
              <a:chOff x="0" y="0"/>
              <a:chExt cx="812800" cy="812778"/>
            </a:xfrm>
          </p:grpSpPr>
          <p:sp>
            <p:nvSpPr>
              <p:cNvPr name="Freeform 28" id="28"/>
              <p:cNvSpPr/>
              <p:nvPr/>
            </p:nvSpPr>
            <p:spPr>
              <a:xfrm flipH="false" flipV="false" rot="0">
                <a:off x="0" y="0"/>
                <a:ext cx="812800" cy="812778"/>
              </a:xfrm>
              <a:custGeom>
                <a:avLst/>
                <a:gdLst/>
                <a:ahLst/>
                <a:cxnLst/>
                <a:rect r="r" b="b" t="t" l="l"/>
                <a:pathLst>
                  <a:path h="812778" w="812800">
                    <a:moveTo>
                      <a:pt x="406400" y="0"/>
                    </a:moveTo>
                    <a:cubicBezTo>
                      <a:pt x="181951" y="0"/>
                      <a:pt x="0" y="181947"/>
                      <a:pt x="0" y="406389"/>
                    </a:cubicBezTo>
                    <a:cubicBezTo>
                      <a:pt x="0" y="630832"/>
                      <a:pt x="181951" y="812778"/>
                      <a:pt x="406400" y="812778"/>
                    </a:cubicBezTo>
                    <a:cubicBezTo>
                      <a:pt x="630849" y="812778"/>
                      <a:pt x="812800" y="630832"/>
                      <a:pt x="812800" y="406389"/>
                    </a:cubicBezTo>
                    <a:cubicBezTo>
                      <a:pt x="812800" y="181947"/>
                      <a:pt x="630849" y="0"/>
                      <a:pt x="406400" y="0"/>
                    </a:cubicBezTo>
                    <a:close/>
                  </a:path>
                </a:pathLst>
              </a:custGeom>
              <a:solidFill>
                <a:srgbClr val="004AAD"/>
              </a:solidFill>
            </p:spPr>
          </p:sp>
          <p:sp>
            <p:nvSpPr>
              <p:cNvPr name="TextBox 29" id="29"/>
              <p:cNvSpPr txBox="true"/>
              <p:nvPr/>
            </p:nvSpPr>
            <p:spPr>
              <a:xfrm>
                <a:off x="76200" y="66673"/>
                <a:ext cx="660400" cy="669907"/>
              </a:xfrm>
              <a:prstGeom prst="rect">
                <a:avLst/>
              </a:prstGeom>
            </p:spPr>
            <p:txBody>
              <a:bodyPr anchor="ctr" rtlCol="false" tIns="50800" lIns="50800" bIns="50800" rIns="50800"/>
              <a:lstStyle/>
              <a:p>
                <a:pPr algn="ctr">
                  <a:lnSpc>
                    <a:spcPts val="3143"/>
                  </a:lnSpc>
                </a:pPr>
              </a:p>
            </p:txBody>
          </p:sp>
        </p:grpSp>
        <p:sp>
          <p:nvSpPr>
            <p:cNvPr name="TextBox 30" id="30"/>
            <p:cNvSpPr txBox="true"/>
            <p:nvPr/>
          </p:nvSpPr>
          <p:spPr>
            <a:xfrm rot="0">
              <a:off x="393645" y="-123825"/>
              <a:ext cx="552681" cy="1244843"/>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4</a:t>
              </a:r>
            </a:p>
          </p:txBody>
        </p:sp>
      </p:grpSp>
      <p:grpSp>
        <p:nvGrpSpPr>
          <p:cNvPr name="Group 31" id="31"/>
          <p:cNvGrpSpPr/>
          <p:nvPr/>
        </p:nvGrpSpPr>
        <p:grpSpPr>
          <a:xfrm rot="5400000">
            <a:off x="708513" y="1097183"/>
            <a:ext cx="1656276" cy="1015902"/>
            <a:chOff x="0" y="0"/>
            <a:chExt cx="2208368" cy="1354535"/>
          </a:xfrm>
        </p:grpSpPr>
        <p:sp>
          <p:nvSpPr>
            <p:cNvPr name="AutoShape 32" id="32"/>
            <p:cNvSpPr/>
            <p:nvPr/>
          </p:nvSpPr>
          <p:spPr>
            <a:xfrm>
              <a:off x="0" y="0"/>
              <a:ext cx="2208368" cy="1354535"/>
            </a:xfrm>
            <a:prstGeom prst="rect">
              <a:avLst/>
            </a:prstGeom>
            <a:solidFill>
              <a:srgbClr val="2B2B2B"/>
            </a:solidFill>
          </p:spPr>
        </p:sp>
      </p:grpSp>
      <p:grpSp>
        <p:nvGrpSpPr>
          <p:cNvPr name="Group 33" id="33"/>
          <p:cNvGrpSpPr/>
          <p:nvPr/>
        </p:nvGrpSpPr>
        <p:grpSpPr>
          <a:xfrm rot="5400000">
            <a:off x="708513" y="2866366"/>
            <a:ext cx="1656276" cy="1015902"/>
            <a:chOff x="0" y="0"/>
            <a:chExt cx="2208368" cy="1354535"/>
          </a:xfrm>
        </p:grpSpPr>
        <p:sp>
          <p:nvSpPr>
            <p:cNvPr name="AutoShape 34" id="34"/>
            <p:cNvSpPr/>
            <p:nvPr/>
          </p:nvSpPr>
          <p:spPr>
            <a:xfrm>
              <a:off x="0" y="0"/>
              <a:ext cx="2208368" cy="1354535"/>
            </a:xfrm>
            <a:prstGeom prst="rect">
              <a:avLst/>
            </a:prstGeom>
            <a:solidFill>
              <a:srgbClr val="2B2B2B"/>
            </a:solidFill>
          </p:spPr>
        </p:sp>
      </p:grpSp>
      <p:grpSp>
        <p:nvGrpSpPr>
          <p:cNvPr name="Group 35" id="35"/>
          <p:cNvGrpSpPr/>
          <p:nvPr/>
        </p:nvGrpSpPr>
        <p:grpSpPr>
          <a:xfrm rot="5400000">
            <a:off x="4306352" y="-1484754"/>
            <a:ext cx="1656276" cy="6179777"/>
            <a:chOff x="0" y="0"/>
            <a:chExt cx="2208368" cy="8239702"/>
          </a:xfrm>
        </p:grpSpPr>
        <p:sp>
          <p:nvSpPr>
            <p:cNvPr name="AutoShape 36" id="36"/>
            <p:cNvSpPr/>
            <p:nvPr/>
          </p:nvSpPr>
          <p:spPr>
            <a:xfrm>
              <a:off x="0" y="0"/>
              <a:ext cx="2208368" cy="8239702"/>
            </a:xfrm>
            <a:prstGeom prst="rect">
              <a:avLst/>
            </a:prstGeom>
            <a:solidFill>
              <a:srgbClr val="E8E8E8"/>
            </a:solidFill>
          </p:spPr>
        </p:sp>
      </p:grpSp>
      <p:grpSp>
        <p:nvGrpSpPr>
          <p:cNvPr name="Group 37" id="37"/>
          <p:cNvGrpSpPr/>
          <p:nvPr/>
        </p:nvGrpSpPr>
        <p:grpSpPr>
          <a:xfrm rot="5400000">
            <a:off x="4306352" y="284429"/>
            <a:ext cx="1656276" cy="6179777"/>
            <a:chOff x="0" y="0"/>
            <a:chExt cx="2208368" cy="8239702"/>
          </a:xfrm>
        </p:grpSpPr>
        <p:sp>
          <p:nvSpPr>
            <p:cNvPr name="AutoShape 38" id="38"/>
            <p:cNvSpPr/>
            <p:nvPr/>
          </p:nvSpPr>
          <p:spPr>
            <a:xfrm>
              <a:off x="0" y="0"/>
              <a:ext cx="2208368" cy="8239702"/>
            </a:xfrm>
            <a:prstGeom prst="rect">
              <a:avLst/>
            </a:prstGeom>
            <a:solidFill>
              <a:srgbClr val="E8E8E8"/>
            </a:solidFill>
          </p:spPr>
        </p:sp>
      </p:grpSp>
      <p:sp>
        <p:nvSpPr>
          <p:cNvPr name="TextBox 39" id="39"/>
          <p:cNvSpPr txBox="true"/>
          <p:nvPr/>
        </p:nvSpPr>
        <p:spPr>
          <a:xfrm rot="0">
            <a:off x="1329396" y="1060927"/>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1</a:t>
            </a:r>
          </a:p>
        </p:txBody>
      </p:sp>
      <p:sp>
        <p:nvSpPr>
          <p:cNvPr name="TextBox 40" id="40"/>
          <p:cNvSpPr txBox="true"/>
          <p:nvPr/>
        </p:nvSpPr>
        <p:spPr>
          <a:xfrm rot="0">
            <a:off x="1329396" y="2830110"/>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2</a:t>
            </a:r>
          </a:p>
        </p:txBody>
      </p:sp>
      <p:sp>
        <p:nvSpPr>
          <p:cNvPr name="TextBox 41" id="41"/>
          <p:cNvSpPr txBox="true"/>
          <p:nvPr/>
        </p:nvSpPr>
        <p:spPr>
          <a:xfrm rot="0">
            <a:off x="2337498" y="1108922"/>
            <a:ext cx="5593983" cy="944799"/>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Raleway 2"/>
                <a:ea typeface="Raleway 2"/>
                <a:cs typeface="Raleway 2"/>
                <a:sym typeface="Raleway 2"/>
              </a:rPr>
              <a:t>Levantar los requisitos con el área contable y diseñar la arquitectura y el modelo de datos.</a:t>
            </a:r>
          </a:p>
        </p:txBody>
      </p:sp>
      <p:sp>
        <p:nvSpPr>
          <p:cNvPr name="TextBox 42" id="42"/>
          <p:cNvSpPr txBox="true"/>
          <p:nvPr/>
        </p:nvSpPr>
        <p:spPr>
          <a:xfrm rot="0">
            <a:off x="2337498" y="2878105"/>
            <a:ext cx="5593983" cy="944799"/>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Raleway 2"/>
                <a:ea typeface="Raleway 2"/>
                <a:cs typeface="Raleway 2"/>
                <a:sym typeface="Raleway 2"/>
              </a:rPr>
              <a:t>Implementar la extracción del RCV y del F29 desde el SII y del certificado de deuda desde la TGR.</a:t>
            </a:r>
          </a:p>
        </p:txBody>
      </p:sp>
      <p:grpSp>
        <p:nvGrpSpPr>
          <p:cNvPr name="Group 43" id="43"/>
          <p:cNvGrpSpPr/>
          <p:nvPr/>
        </p:nvGrpSpPr>
        <p:grpSpPr>
          <a:xfrm rot="5400000">
            <a:off x="708513" y="4635549"/>
            <a:ext cx="1656276" cy="1015902"/>
            <a:chOff x="0" y="0"/>
            <a:chExt cx="2208368" cy="1354535"/>
          </a:xfrm>
        </p:grpSpPr>
        <p:sp>
          <p:nvSpPr>
            <p:cNvPr name="AutoShape 44" id="44"/>
            <p:cNvSpPr/>
            <p:nvPr/>
          </p:nvSpPr>
          <p:spPr>
            <a:xfrm>
              <a:off x="0" y="0"/>
              <a:ext cx="2208368" cy="1354535"/>
            </a:xfrm>
            <a:prstGeom prst="rect">
              <a:avLst/>
            </a:prstGeom>
            <a:solidFill>
              <a:srgbClr val="2B2B2B"/>
            </a:solidFill>
          </p:spPr>
        </p:sp>
      </p:grpSp>
      <p:grpSp>
        <p:nvGrpSpPr>
          <p:cNvPr name="Group 45" id="45"/>
          <p:cNvGrpSpPr/>
          <p:nvPr/>
        </p:nvGrpSpPr>
        <p:grpSpPr>
          <a:xfrm rot="5400000">
            <a:off x="4306352" y="2053612"/>
            <a:ext cx="1656276" cy="6179777"/>
            <a:chOff x="0" y="0"/>
            <a:chExt cx="2208368" cy="8239702"/>
          </a:xfrm>
        </p:grpSpPr>
        <p:sp>
          <p:nvSpPr>
            <p:cNvPr name="AutoShape 46" id="46"/>
            <p:cNvSpPr/>
            <p:nvPr/>
          </p:nvSpPr>
          <p:spPr>
            <a:xfrm>
              <a:off x="0" y="0"/>
              <a:ext cx="2208368" cy="8239702"/>
            </a:xfrm>
            <a:prstGeom prst="rect">
              <a:avLst/>
            </a:prstGeom>
            <a:solidFill>
              <a:srgbClr val="E8E8E8"/>
            </a:solidFill>
          </p:spPr>
        </p:sp>
      </p:grpSp>
      <p:sp>
        <p:nvSpPr>
          <p:cNvPr name="TextBox 47" id="47"/>
          <p:cNvSpPr txBox="true"/>
          <p:nvPr/>
        </p:nvSpPr>
        <p:spPr>
          <a:xfrm rot="0">
            <a:off x="1329396" y="4599293"/>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3</a:t>
            </a:r>
          </a:p>
        </p:txBody>
      </p:sp>
      <p:sp>
        <p:nvSpPr>
          <p:cNvPr name="TextBox 48" id="48"/>
          <p:cNvSpPr txBox="true"/>
          <p:nvPr/>
        </p:nvSpPr>
        <p:spPr>
          <a:xfrm rot="0">
            <a:off x="2337498" y="4647288"/>
            <a:ext cx="5593983" cy="944799"/>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Raleway 2"/>
                <a:ea typeface="Raleway 2"/>
                <a:cs typeface="Raleway 2"/>
                <a:sym typeface="Raleway 2"/>
              </a:rPr>
              <a:t>Construir la capa de persistencia y la carga del histórico en una base de datos relacional.</a:t>
            </a:r>
          </a:p>
        </p:txBody>
      </p:sp>
      <p:grpSp>
        <p:nvGrpSpPr>
          <p:cNvPr name="Group 49" id="49"/>
          <p:cNvGrpSpPr/>
          <p:nvPr/>
        </p:nvGrpSpPr>
        <p:grpSpPr>
          <a:xfrm rot="5400000">
            <a:off x="708513" y="6404732"/>
            <a:ext cx="1656276" cy="1015902"/>
            <a:chOff x="0" y="0"/>
            <a:chExt cx="2208368" cy="1354535"/>
          </a:xfrm>
        </p:grpSpPr>
        <p:sp>
          <p:nvSpPr>
            <p:cNvPr name="AutoShape 50" id="50"/>
            <p:cNvSpPr/>
            <p:nvPr/>
          </p:nvSpPr>
          <p:spPr>
            <a:xfrm>
              <a:off x="0" y="0"/>
              <a:ext cx="2208368" cy="1354535"/>
            </a:xfrm>
            <a:prstGeom prst="rect">
              <a:avLst/>
            </a:prstGeom>
            <a:solidFill>
              <a:srgbClr val="2B2B2B"/>
            </a:solidFill>
          </p:spPr>
        </p:sp>
      </p:grpSp>
      <p:grpSp>
        <p:nvGrpSpPr>
          <p:cNvPr name="Group 51" id="51"/>
          <p:cNvGrpSpPr/>
          <p:nvPr/>
        </p:nvGrpSpPr>
        <p:grpSpPr>
          <a:xfrm rot="5400000">
            <a:off x="4306352" y="3822795"/>
            <a:ext cx="1656276" cy="6179777"/>
            <a:chOff x="0" y="0"/>
            <a:chExt cx="2208368" cy="8239702"/>
          </a:xfrm>
        </p:grpSpPr>
        <p:sp>
          <p:nvSpPr>
            <p:cNvPr name="AutoShape 52" id="52"/>
            <p:cNvSpPr/>
            <p:nvPr/>
          </p:nvSpPr>
          <p:spPr>
            <a:xfrm>
              <a:off x="0" y="0"/>
              <a:ext cx="2208368" cy="8239702"/>
            </a:xfrm>
            <a:prstGeom prst="rect">
              <a:avLst/>
            </a:prstGeom>
            <a:solidFill>
              <a:srgbClr val="E8E8E8"/>
            </a:solidFill>
          </p:spPr>
        </p:sp>
      </p:grpSp>
      <p:sp>
        <p:nvSpPr>
          <p:cNvPr name="TextBox 53" id="53"/>
          <p:cNvSpPr txBox="true"/>
          <p:nvPr/>
        </p:nvSpPr>
        <p:spPr>
          <a:xfrm rot="0">
            <a:off x="1329396" y="6368476"/>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4</a:t>
            </a:r>
          </a:p>
        </p:txBody>
      </p:sp>
      <p:sp>
        <p:nvSpPr>
          <p:cNvPr name="TextBox 54" id="54"/>
          <p:cNvSpPr txBox="true"/>
          <p:nvPr/>
        </p:nvSpPr>
        <p:spPr>
          <a:xfrm rot="0">
            <a:off x="2337498" y="6416471"/>
            <a:ext cx="5593983" cy="944799"/>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Raleway 2"/>
                <a:ea typeface="Raleway 2"/>
                <a:cs typeface="Raleway 2"/>
                <a:sym typeface="Raleway 2"/>
              </a:rPr>
              <a:t>Desarrollar la aplicación web de ejecución, monitoreo y consulta, y el resguardo cifrado de credenciales.</a:t>
            </a:r>
          </a:p>
        </p:txBody>
      </p:sp>
      <p:grpSp>
        <p:nvGrpSpPr>
          <p:cNvPr name="Group 55" id="55"/>
          <p:cNvGrpSpPr/>
          <p:nvPr/>
        </p:nvGrpSpPr>
        <p:grpSpPr>
          <a:xfrm rot="5400000">
            <a:off x="708513" y="8173915"/>
            <a:ext cx="1656276" cy="1015902"/>
            <a:chOff x="0" y="0"/>
            <a:chExt cx="2208368" cy="1354535"/>
          </a:xfrm>
        </p:grpSpPr>
        <p:sp>
          <p:nvSpPr>
            <p:cNvPr name="AutoShape 56" id="56"/>
            <p:cNvSpPr/>
            <p:nvPr/>
          </p:nvSpPr>
          <p:spPr>
            <a:xfrm>
              <a:off x="0" y="0"/>
              <a:ext cx="2208368" cy="1354535"/>
            </a:xfrm>
            <a:prstGeom prst="rect">
              <a:avLst/>
            </a:prstGeom>
            <a:solidFill>
              <a:srgbClr val="2B2B2B"/>
            </a:solidFill>
          </p:spPr>
        </p:sp>
      </p:grpSp>
      <p:grpSp>
        <p:nvGrpSpPr>
          <p:cNvPr name="Group 57" id="57"/>
          <p:cNvGrpSpPr/>
          <p:nvPr/>
        </p:nvGrpSpPr>
        <p:grpSpPr>
          <a:xfrm rot="5400000">
            <a:off x="4306352" y="5591978"/>
            <a:ext cx="1656276" cy="6179777"/>
            <a:chOff x="0" y="0"/>
            <a:chExt cx="2208368" cy="8239702"/>
          </a:xfrm>
        </p:grpSpPr>
        <p:sp>
          <p:nvSpPr>
            <p:cNvPr name="AutoShape 58" id="58"/>
            <p:cNvSpPr/>
            <p:nvPr/>
          </p:nvSpPr>
          <p:spPr>
            <a:xfrm>
              <a:off x="0" y="0"/>
              <a:ext cx="2208368" cy="8239702"/>
            </a:xfrm>
            <a:prstGeom prst="rect">
              <a:avLst/>
            </a:prstGeom>
            <a:solidFill>
              <a:srgbClr val="E8E8E8"/>
            </a:solidFill>
          </p:spPr>
        </p:sp>
      </p:grpSp>
      <p:sp>
        <p:nvSpPr>
          <p:cNvPr name="TextBox 59" id="59"/>
          <p:cNvSpPr txBox="true"/>
          <p:nvPr/>
        </p:nvSpPr>
        <p:spPr>
          <a:xfrm rot="0">
            <a:off x="1329396" y="8137659"/>
            <a:ext cx="414511" cy="964588"/>
          </a:xfrm>
          <a:prstGeom prst="rect">
            <a:avLst/>
          </a:prstGeom>
        </p:spPr>
        <p:txBody>
          <a:bodyPr anchor="t" rtlCol="false" tIns="0" lIns="0" bIns="0" rIns="0">
            <a:spAutoFit/>
          </a:bodyPr>
          <a:lstStyle/>
          <a:p>
            <a:pPr algn="l" marL="0" indent="0" lvl="0">
              <a:lnSpc>
                <a:spcPts val="7732"/>
              </a:lnSpc>
              <a:spcBef>
                <a:spcPct val="0"/>
              </a:spcBef>
            </a:pPr>
            <a:r>
              <a:rPr lang="en-US" b="true" sz="5523" spc="27">
                <a:solidFill>
                  <a:srgbClr val="F6F6F6"/>
                </a:solidFill>
                <a:latin typeface="Raleway 1 Bold"/>
                <a:ea typeface="Raleway 1 Bold"/>
                <a:cs typeface="Raleway 1 Bold"/>
                <a:sym typeface="Raleway 1 Bold"/>
              </a:rPr>
              <a:t>5</a:t>
            </a:r>
          </a:p>
        </p:txBody>
      </p:sp>
      <p:sp>
        <p:nvSpPr>
          <p:cNvPr name="TextBox 60" id="60"/>
          <p:cNvSpPr txBox="true"/>
          <p:nvPr/>
        </p:nvSpPr>
        <p:spPr>
          <a:xfrm rot="0">
            <a:off x="2337498" y="8185654"/>
            <a:ext cx="5593983" cy="944799"/>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Raleway 2"/>
                <a:ea typeface="Raleway 2"/>
                <a:cs typeface="Raleway 2"/>
                <a:sym typeface="Raleway 2"/>
              </a:rPr>
              <a:t>Validar con pruebas integradas y documentar la instalación y la operación del sistema.</a:t>
            </a:r>
          </a:p>
        </p:txBody>
      </p:sp>
      <p:sp>
        <p:nvSpPr>
          <p:cNvPr name="Titulo906" id="906"/>
          <p:cNvSpPr txBox="true"/>
          <p:nvPr/>
        </p:nvSpPr>
        <p:spPr>
          <a:xfrm rot="0">
            <a:off x="9692640" y="548640"/>
            <a:ext cx="7315200" cy="914400"/>
          </a:xfrm>
          <a:prstGeom prst="rect">
            <a:avLst/>
          </a:prstGeom>
        </p:spPr>
        <p:txBody>
          <a:bodyPr anchor="t" rtlCol="false" tIns="0" lIns="0" bIns="0" rIns="0">
            <a:spAutoFit/>
          </a:bodyPr>
          <a:lstStyle/>
          <a:p>
            <a:pPr algn="l" marL="0" indent="0" lvl="0">
              <a:spcBef>
                <a:spcPct val="0"/>
              </a:spcBef>
            </a:pPr>
            <a:r>
              <a:rPr lang="en-US" b="true" sz="4000" spc="27" u="none">
                <a:solidFill>
                  <a:srgbClr val="000000"/>
                </a:solidFill>
                <a:latin typeface="Raleway 1 Bold"/>
                <a:ea typeface="Raleway 1 Bold"/>
                <a:cs typeface="Raleway 1 Bold"/>
                <a:sym typeface="Raleway 1 Bold"/>
              </a:rPr>
              <a:t>OBJETIVOS</a:t>
            </a:r>
          </a:p>
        </p:txBody>
      </p:sp>
      <p:sp>
        <p:nvSpPr>
          <p:cNvPr name="Titulo907" id="907"/>
          <p:cNvSpPr txBox="true"/>
          <p:nvPr/>
        </p:nvSpPr>
        <p:spPr>
          <a:xfrm rot="0">
            <a:off x="9784080" y="8046720"/>
            <a:ext cx="7132320" cy="1463040"/>
          </a:xfrm>
          <a:prstGeom prst="rect">
            <a:avLst/>
          </a:prstGeom>
        </p:spPr>
        <p:txBody>
          <a:bodyPr anchor="t" rtlCol="false" tIns="0" lIns="0" bIns="0" rIns="0">
            <a:spAutoFit/>
          </a:bodyPr>
          <a:lstStyle/>
          <a:p>
            <a:pPr algn="l" marL="0" indent="0" lvl="0">
              <a:spcBef>
                <a:spcPct val="0"/>
              </a:spcBef>
            </a:pPr>
            <a:r>
              <a:rPr lang="en-US" b="true" sz="1900" spc="27" u="none">
                <a:solidFill>
                  <a:srgbClr val="000000"/>
                </a:solidFill>
                <a:latin typeface="Raleway 1 Bold"/>
                <a:ea typeface="Raleway 1 Bold"/>
                <a:cs typeface="Raleway 1 Bold"/>
                <a:sym typeface="Raleway 1 Bold"/>
              </a:rPr>
              <a:t>General: desarrollar un sistema web que automatice la obtención, la consolidación y la consulta de la información tributaria de las doce entidades ante el SII y la TGR.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7206983" y="754604"/>
            <a:ext cx="3874035" cy="3127403"/>
          </a:xfrm>
          <a:custGeom>
            <a:avLst/>
            <a:gdLst/>
            <a:ahLst/>
            <a:cxnLst/>
            <a:rect r="r" b="b" t="t" l="l"/>
            <a:pathLst>
              <a:path h="3127403" w="3874035">
                <a:moveTo>
                  <a:pt x="0" y="0"/>
                </a:moveTo>
                <a:lnTo>
                  <a:pt x="3874034" y="0"/>
                </a:lnTo>
                <a:lnTo>
                  <a:pt x="3874034" y="3127402"/>
                </a:lnTo>
                <a:lnTo>
                  <a:pt x="0" y="3127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10800000">
            <a:off x="2478463" y="5124450"/>
            <a:ext cx="13331074" cy="0"/>
          </a:xfrm>
          <a:prstGeom prst="line">
            <a:avLst/>
          </a:prstGeom>
          <a:ln cap="flat" w="38100">
            <a:solidFill>
              <a:srgbClr val="2B2B2B"/>
            </a:solidFill>
            <a:prstDash val="solid"/>
            <a:headEnd type="none" len="sm" w="sm"/>
            <a:tailEnd type="none" len="sm" w="sm"/>
          </a:ln>
        </p:spPr>
      </p:sp>
      <p:sp>
        <p:nvSpPr>
          <p:cNvPr name="AutoShape 4" id="4"/>
          <p:cNvSpPr/>
          <p:nvPr/>
        </p:nvSpPr>
        <p:spPr>
          <a:xfrm rot="-5400000">
            <a:off x="8589453" y="4588953"/>
            <a:ext cx="1109094" cy="0"/>
          </a:xfrm>
          <a:prstGeom prst="line">
            <a:avLst/>
          </a:prstGeom>
          <a:ln cap="flat" w="38100">
            <a:solidFill>
              <a:srgbClr val="2B2B2B"/>
            </a:solidFill>
            <a:prstDash val="solid"/>
            <a:headEnd type="none" len="sm" w="sm"/>
            <a:tailEnd type="oval" len="lg" w="lg"/>
          </a:ln>
        </p:spPr>
      </p:sp>
      <p:sp>
        <p:nvSpPr>
          <p:cNvPr name="AutoShape 5" id="5"/>
          <p:cNvSpPr/>
          <p:nvPr/>
        </p:nvSpPr>
        <p:spPr>
          <a:xfrm rot="-5400000">
            <a:off x="1942966" y="5659947"/>
            <a:ext cx="1109094" cy="0"/>
          </a:xfrm>
          <a:prstGeom prst="line">
            <a:avLst/>
          </a:prstGeom>
          <a:ln cap="flat" w="38100">
            <a:solidFill>
              <a:srgbClr val="2B2B2B"/>
            </a:solidFill>
            <a:prstDash val="solid"/>
            <a:headEnd type="oval" len="lg" w="lg"/>
            <a:tailEnd type="none" len="sm" w="sm"/>
          </a:ln>
        </p:spPr>
      </p:sp>
      <p:sp>
        <p:nvSpPr>
          <p:cNvPr name="AutoShape 6" id="6"/>
          <p:cNvSpPr/>
          <p:nvPr/>
        </p:nvSpPr>
        <p:spPr>
          <a:xfrm rot="-5400000">
            <a:off x="6373957" y="5659947"/>
            <a:ext cx="1109094" cy="0"/>
          </a:xfrm>
          <a:prstGeom prst="line">
            <a:avLst/>
          </a:prstGeom>
          <a:ln cap="flat" w="38100">
            <a:solidFill>
              <a:srgbClr val="2B2B2B"/>
            </a:solidFill>
            <a:prstDash val="solid"/>
            <a:headEnd type="oval" len="lg" w="lg"/>
            <a:tailEnd type="none" len="sm" w="sm"/>
          </a:ln>
        </p:spPr>
      </p:sp>
      <p:sp>
        <p:nvSpPr>
          <p:cNvPr name="AutoShape 7" id="7"/>
          <p:cNvSpPr/>
          <p:nvPr/>
        </p:nvSpPr>
        <p:spPr>
          <a:xfrm rot="-5400000">
            <a:off x="10804949" y="5659947"/>
            <a:ext cx="1109094" cy="0"/>
          </a:xfrm>
          <a:prstGeom prst="line">
            <a:avLst/>
          </a:prstGeom>
          <a:ln cap="flat" w="38100">
            <a:solidFill>
              <a:srgbClr val="2B2B2B"/>
            </a:solidFill>
            <a:prstDash val="solid"/>
            <a:headEnd type="oval" len="lg" w="lg"/>
            <a:tailEnd type="none" len="sm" w="sm"/>
          </a:ln>
        </p:spPr>
      </p:sp>
      <p:sp>
        <p:nvSpPr>
          <p:cNvPr name="AutoShape 8" id="8"/>
          <p:cNvSpPr/>
          <p:nvPr/>
        </p:nvSpPr>
        <p:spPr>
          <a:xfrm rot="-5400000">
            <a:off x="15235940" y="5659947"/>
            <a:ext cx="1109094" cy="0"/>
          </a:xfrm>
          <a:prstGeom prst="line">
            <a:avLst/>
          </a:prstGeom>
          <a:ln cap="flat" w="38100">
            <a:solidFill>
              <a:srgbClr val="2B2B2B"/>
            </a:solidFill>
            <a:prstDash val="solid"/>
            <a:headEnd type="oval" len="lg" w="lg"/>
            <a:tailEnd type="none" len="sm" w="sm"/>
          </a:ln>
        </p:spPr>
      </p:sp>
      <p:sp>
        <p:nvSpPr>
          <p:cNvPr name="TextBox 9" id="9"/>
          <p:cNvSpPr txBox="true"/>
          <p:nvPr/>
        </p:nvSpPr>
        <p:spPr>
          <a:xfrm rot="0">
            <a:off x="748438" y="7080593"/>
            <a:ext cx="3460049" cy="1758950"/>
          </a:xfrm>
          <a:prstGeom prst="rect">
            <a:avLst/>
          </a:prstGeom>
        </p:spPr>
        <p:txBody>
          <a:bodyPr anchor="t" rtlCol="false" tIns="0" lIns="0" bIns="0" rIns="0">
            <a:spAutoFit/>
          </a:bodyPr>
          <a:lstStyle/>
          <a:p>
            <a:pPr algn="ctr" marL="0" indent="0" lvl="0">
              <a:lnSpc>
                <a:spcPts val="2799"/>
              </a:lnSpc>
              <a:spcBef>
                <a:spcPct val="0"/>
              </a:spcBef>
            </a:pPr>
            <a:r>
              <a:rPr lang="en-US" sz="1999">
                <a:solidFill>
                  <a:srgbClr val="000000"/>
                </a:solidFill>
                <a:latin typeface="Raleway 2"/>
                <a:ea typeface="Raleway 2"/>
                <a:cs typeface="Raleway 2"/>
                <a:sym typeface="Raleway 2"/>
              </a:rPr>
              <a:t>Entrevistas con el área contable y análisis del comportamiento real de los portales del SII y la TGR.</a:t>
            </a:r>
          </a:p>
        </p:txBody>
      </p:sp>
      <p:sp>
        <p:nvSpPr>
          <p:cNvPr name="TextBox 10" id="10"/>
          <p:cNvSpPr txBox="true"/>
          <p:nvPr/>
        </p:nvSpPr>
        <p:spPr>
          <a:xfrm rot="0">
            <a:off x="5217530" y="7080593"/>
            <a:ext cx="3460049" cy="1758950"/>
          </a:xfrm>
          <a:prstGeom prst="rect">
            <a:avLst/>
          </a:prstGeom>
        </p:spPr>
        <p:txBody>
          <a:bodyPr anchor="t" rtlCol="false" tIns="0" lIns="0" bIns="0" rIns="0">
            <a:spAutoFit/>
          </a:bodyPr>
          <a:lstStyle/>
          <a:p>
            <a:pPr algn="ctr" marL="0" indent="0" lvl="0">
              <a:lnSpc>
                <a:spcPts val="2799"/>
              </a:lnSpc>
              <a:spcBef>
                <a:spcPct val="0"/>
              </a:spcBef>
            </a:pPr>
            <a:r>
              <a:rPr lang="en-US" sz="1999">
                <a:solidFill>
                  <a:srgbClr val="000000"/>
                </a:solidFill>
                <a:latin typeface="Raleway 2"/>
                <a:ea typeface="Raleway 2"/>
                <a:cs typeface="Raleway 2"/>
                <a:sym typeface="Raleway 2"/>
              </a:rPr>
              <a:t>Arquitectura en capas, modelo de datos e interfaces entre módulos, revisadas antes de construir.</a:t>
            </a:r>
          </a:p>
        </p:txBody>
      </p:sp>
      <p:sp>
        <p:nvSpPr>
          <p:cNvPr name="TextBox 11" id="11"/>
          <p:cNvSpPr txBox="true"/>
          <p:nvPr/>
        </p:nvSpPr>
        <p:spPr>
          <a:xfrm rot="0">
            <a:off x="951322" y="6510932"/>
            <a:ext cx="3054283" cy="448283"/>
          </a:xfrm>
          <a:prstGeom prst="rect">
            <a:avLst/>
          </a:prstGeom>
        </p:spPr>
        <p:txBody>
          <a:bodyPr anchor="t" rtlCol="false" tIns="0" lIns="0" bIns="0" rIns="0">
            <a:spAutoFit/>
          </a:bodyPr>
          <a:lstStyle/>
          <a:p>
            <a:pPr algn="ctr"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REQUISITOS</a:t>
            </a:r>
          </a:p>
        </p:txBody>
      </p:sp>
      <p:sp>
        <p:nvSpPr>
          <p:cNvPr name="TextBox 12" id="12"/>
          <p:cNvSpPr txBox="true"/>
          <p:nvPr/>
        </p:nvSpPr>
        <p:spPr>
          <a:xfrm rot="0">
            <a:off x="5420413" y="6510932"/>
            <a:ext cx="3054283" cy="448283"/>
          </a:xfrm>
          <a:prstGeom prst="rect">
            <a:avLst/>
          </a:prstGeom>
        </p:spPr>
        <p:txBody>
          <a:bodyPr anchor="t" rtlCol="false" tIns="0" lIns="0" bIns="0" rIns="0">
            <a:spAutoFit/>
          </a:bodyPr>
          <a:lstStyle/>
          <a:p>
            <a:pPr algn="ctr"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DISEÑO</a:t>
            </a:r>
          </a:p>
        </p:txBody>
      </p:sp>
      <p:sp>
        <p:nvSpPr>
          <p:cNvPr name="TextBox 13" id="13"/>
          <p:cNvSpPr txBox="true"/>
          <p:nvPr/>
        </p:nvSpPr>
        <p:spPr>
          <a:xfrm rot="0">
            <a:off x="9686621" y="7080593"/>
            <a:ext cx="3460049" cy="1758950"/>
          </a:xfrm>
          <a:prstGeom prst="rect">
            <a:avLst/>
          </a:prstGeom>
        </p:spPr>
        <p:txBody>
          <a:bodyPr anchor="t" rtlCol="false" tIns="0" lIns="0" bIns="0" rIns="0">
            <a:spAutoFit/>
          </a:bodyPr>
          <a:lstStyle/>
          <a:p>
            <a:pPr algn="ctr" marL="0" indent="0" lvl="0">
              <a:lnSpc>
                <a:spcPts val="2799"/>
              </a:lnSpc>
              <a:spcBef>
                <a:spcPct val="0"/>
              </a:spcBef>
            </a:pPr>
            <a:r>
              <a:rPr lang="en-US" sz="1999">
                <a:solidFill>
                  <a:srgbClr val="000000"/>
                </a:solidFill>
                <a:latin typeface="Raleway 2"/>
                <a:ea typeface="Raleway 2"/>
                <a:cs typeface="Raleway 2"/>
                <a:sym typeface="Raleway 2"/>
              </a:rPr>
              <a:t>Ciclos de dos semanas. Cada módulo se desarrolla y se prueba aislado antes de integrarse.</a:t>
            </a:r>
          </a:p>
        </p:txBody>
      </p:sp>
      <p:sp>
        <p:nvSpPr>
          <p:cNvPr name="TextBox 14" id="14"/>
          <p:cNvSpPr txBox="true"/>
          <p:nvPr/>
        </p:nvSpPr>
        <p:spPr>
          <a:xfrm rot="0">
            <a:off x="9889504" y="6510932"/>
            <a:ext cx="3054283" cy="448283"/>
          </a:xfrm>
          <a:prstGeom prst="rect">
            <a:avLst/>
          </a:prstGeom>
        </p:spPr>
        <p:txBody>
          <a:bodyPr anchor="t" rtlCol="false" tIns="0" lIns="0" bIns="0" rIns="0">
            <a:spAutoFit/>
          </a:bodyPr>
          <a:lstStyle/>
          <a:p>
            <a:pPr algn="ctr"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CONSTRUCCIÓN</a:t>
            </a:r>
          </a:p>
        </p:txBody>
      </p:sp>
      <p:sp>
        <p:nvSpPr>
          <p:cNvPr name="TextBox 15" id="15"/>
          <p:cNvSpPr txBox="true"/>
          <p:nvPr/>
        </p:nvSpPr>
        <p:spPr>
          <a:xfrm rot="0">
            <a:off x="14155712" y="7080593"/>
            <a:ext cx="3460049" cy="1758950"/>
          </a:xfrm>
          <a:prstGeom prst="rect">
            <a:avLst/>
          </a:prstGeom>
        </p:spPr>
        <p:txBody>
          <a:bodyPr anchor="t" rtlCol="false" tIns="0" lIns="0" bIns="0" rIns="0">
            <a:spAutoFit/>
          </a:bodyPr>
          <a:lstStyle/>
          <a:p>
            <a:pPr algn="ctr" marL="0" indent="0" lvl="0">
              <a:lnSpc>
                <a:spcPts val="2799"/>
              </a:lnSpc>
              <a:spcBef>
                <a:spcPct val="0"/>
              </a:spcBef>
            </a:pPr>
            <a:r>
              <a:rPr lang="en-US" sz="1999">
                <a:solidFill>
                  <a:srgbClr val="000000"/>
                </a:solidFill>
                <a:latin typeface="Raleway 2"/>
                <a:ea typeface="Raleway 2"/>
                <a:cs typeface="Raleway 2"/>
                <a:sym typeface="Raleway 2"/>
              </a:rPr>
              <a:t>Pruebas integradas sobre las doce entidades, documentación y puesta en operación en el servidor.</a:t>
            </a:r>
          </a:p>
        </p:txBody>
      </p:sp>
      <p:sp>
        <p:nvSpPr>
          <p:cNvPr name="TextBox 16" id="16"/>
          <p:cNvSpPr txBox="true"/>
          <p:nvPr/>
        </p:nvSpPr>
        <p:spPr>
          <a:xfrm rot="0">
            <a:off x="14358596" y="6510932"/>
            <a:ext cx="3054283" cy="448283"/>
          </a:xfrm>
          <a:prstGeom prst="rect">
            <a:avLst/>
          </a:prstGeom>
        </p:spPr>
        <p:txBody>
          <a:bodyPr anchor="t" rtlCol="false" tIns="0" lIns="0" bIns="0" rIns="0">
            <a:spAutoFit/>
          </a:bodyPr>
          <a:lstStyle/>
          <a:p>
            <a:pPr algn="ctr"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VALIDACIÓN</a:t>
            </a:r>
          </a:p>
        </p:txBody>
      </p:sp>
      <p:sp>
        <p:nvSpPr>
          <p:cNvPr name="Titulo908" id="908"/>
          <p:cNvSpPr txBox="true"/>
          <p:nvPr/>
        </p:nvSpPr>
        <p:spPr>
          <a:xfrm rot="0">
            <a:off x="731520" y="914400"/>
            <a:ext cx="5943600" cy="914400"/>
          </a:xfrm>
          <a:prstGeom prst="rect">
            <a:avLst/>
          </a:prstGeom>
        </p:spPr>
        <p:txBody>
          <a:bodyPr anchor="t" rtlCol="false" tIns="0" lIns="0" bIns="0" rIns="0">
            <a:spAutoFit/>
          </a:bodyPr>
          <a:lstStyle/>
          <a:p>
            <a:pPr algn="l" marL="0" indent="0" lvl="0">
              <a:spcBef>
                <a:spcPct val="0"/>
              </a:spcBef>
            </a:pPr>
            <a:r>
              <a:rPr lang="en-US" b="true" sz="4000" spc="27" u="none">
                <a:solidFill>
                  <a:srgbClr val="000000"/>
                </a:solidFill>
                <a:latin typeface="Raleway 1 Bold"/>
                <a:ea typeface="Raleway 1 Bold"/>
                <a:cs typeface="Raleway 1 Bold"/>
                <a:sym typeface="Raleway 1 Bold"/>
              </a:rPr>
              <a:t>METODOLOGÍA</a:t>
            </a:r>
          </a:p>
        </p:txBody>
      </p:sp>
      <p:sp>
        <p:nvSpPr>
          <p:cNvPr name="Titulo909" id="909"/>
          <p:cNvSpPr txBox="true"/>
          <p:nvPr/>
        </p:nvSpPr>
        <p:spPr>
          <a:xfrm rot="0">
            <a:off x="11338560" y="1005840"/>
            <a:ext cx="6035040" cy="3108960"/>
          </a:xfrm>
          <a:prstGeom prst="rect">
            <a:avLst/>
          </a:prstGeom>
        </p:spPr>
        <p:txBody>
          <a:bodyPr anchor="t" rtlCol="false" tIns="0" lIns="0" bIns="0" rIns="0">
            <a:spAutoFit/>
          </a:bodyPr>
          <a:lstStyle/>
          <a:p>
            <a:pPr algn="l" marL="0" indent="0" lvl="0">
              <a:spcBef>
                <a:spcPct val="0"/>
              </a:spcBef>
            </a:pPr>
            <a:r>
              <a:rPr lang="en-US" b="0" sz="1900" spc="27" u="none">
                <a:solidFill>
                  <a:srgbClr val="000000"/>
                </a:solidFill>
                <a:latin typeface="Raleway 1 Bold"/>
                <a:ea typeface="Raleway 1 Bold"/>
                <a:cs typeface="Raleway 1 Bold"/>
                <a:sym typeface="Raleway 1 Bold"/>
              </a:rPr>
              <a:t>Cristóbal Ponce de León — backend y seguridad: extracción del SII y la TGR, orquestador de tareas, bóveda cifrada de credenciales y alertas.
Valeria Gómez — datos y frontend: modelo relacional, carga del histórico y aplicación web de operación y consulta.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9875703">
            <a:off x="-3220014" y="-1301014"/>
            <a:ext cx="7805891" cy="14884776"/>
            <a:chOff x="0" y="0"/>
            <a:chExt cx="2055872" cy="3920270"/>
          </a:xfrm>
        </p:grpSpPr>
        <p:sp>
          <p:nvSpPr>
            <p:cNvPr name="Freeform 3" id="3"/>
            <p:cNvSpPr/>
            <p:nvPr/>
          </p:nvSpPr>
          <p:spPr>
            <a:xfrm flipH="false" flipV="false" rot="0">
              <a:off x="0" y="0"/>
              <a:ext cx="2055872" cy="3920270"/>
            </a:xfrm>
            <a:custGeom>
              <a:avLst/>
              <a:gdLst/>
              <a:ahLst/>
              <a:cxnLst/>
              <a:rect r="r" b="b" t="t" l="l"/>
              <a:pathLst>
                <a:path h="3920270" w="2055872">
                  <a:moveTo>
                    <a:pt x="0" y="0"/>
                  </a:moveTo>
                  <a:lnTo>
                    <a:pt x="2055872" y="0"/>
                  </a:lnTo>
                  <a:lnTo>
                    <a:pt x="2055872" y="3920270"/>
                  </a:lnTo>
                  <a:lnTo>
                    <a:pt x="0" y="3920270"/>
                  </a:lnTo>
                  <a:close/>
                </a:path>
              </a:pathLst>
            </a:custGeom>
            <a:solidFill>
              <a:srgbClr val="004AAD"/>
            </a:solidFill>
          </p:spPr>
        </p:sp>
        <p:sp>
          <p:nvSpPr>
            <p:cNvPr name="TextBox 4" id="4"/>
            <p:cNvSpPr txBox="true"/>
            <p:nvPr/>
          </p:nvSpPr>
          <p:spPr>
            <a:xfrm>
              <a:off x="0" y="-9525"/>
              <a:ext cx="2055872" cy="3929795"/>
            </a:xfrm>
            <a:prstGeom prst="rect">
              <a:avLst/>
            </a:prstGeom>
          </p:spPr>
          <p:txBody>
            <a:bodyPr anchor="ctr" rtlCol="false" tIns="50800" lIns="50800" bIns="50800" rIns="50800"/>
            <a:lstStyle/>
            <a:p>
              <a:pPr algn="ctr">
                <a:lnSpc>
                  <a:spcPts val="3077"/>
                </a:lnSpc>
              </a:pPr>
            </a:p>
          </p:txBody>
        </p:sp>
      </p:grpSp>
      <p:sp>
        <p:nvSpPr>
          <p:cNvPr name="Freeform 5" id="5"/>
          <p:cNvSpPr/>
          <p:nvPr/>
        </p:nvSpPr>
        <p:spPr>
          <a:xfrm flipH="false" flipV="false" rot="0">
            <a:off x="1028700" y="2781425"/>
            <a:ext cx="6215988" cy="4724151"/>
          </a:xfrm>
          <a:custGeom>
            <a:avLst/>
            <a:gdLst/>
            <a:ahLst/>
            <a:cxnLst/>
            <a:rect r="r" b="b" t="t" l="l"/>
            <a:pathLst>
              <a:path h="4724151" w="6215988">
                <a:moveTo>
                  <a:pt x="0" y="0"/>
                </a:moveTo>
                <a:lnTo>
                  <a:pt x="6215988" y="0"/>
                </a:lnTo>
                <a:lnTo>
                  <a:pt x="6215988" y="4724150"/>
                </a:lnTo>
                <a:lnTo>
                  <a:pt x="0" y="47241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5400000">
            <a:off x="4424335" y="5124450"/>
            <a:ext cx="8229600" cy="0"/>
          </a:xfrm>
          <a:prstGeom prst="line">
            <a:avLst/>
          </a:prstGeom>
          <a:ln cap="flat" w="38100">
            <a:solidFill>
              <a:srgbClr val="2B2B2B"/>
            </a:solidFill>
            <a:prstDash val="solid"/>
            <a:headEnd type="none" len="sm" w="sm"/>
            <a:tailEnd type="none" len="sm" w="sm"/>
          </a:ln>
        </p:spPr>
      </p:sp>
      <p:grpSp>
        <p:nvGrpSpPr>
          <p:cNvPr name="Group 7" id="7"/>
          <p:cNvGrpSpPr/>
          <p:nvPr/>
        </p:nvGrpSpPr>
        <p:grpSpPr>
          <a:xfrm rot="0">
            <a:off x="8343555" y="1028700"/>
            <a:ext cx="391160" cy="39116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9" id="9"/>
            <p:cNvSpPr txBox="true"/>
            <p:nvPr/>
          </p:nvSpPr>
          <p:spPr>
            <a:xfrm>
              <a:off x="76200" y="66675"/>
              <a:ext cx="660400" cy="669925"/>
            </a:xfrm>
            <a:prstGeom prst="rect">
              <a:avLst/>
            </a:prstGeom>
          </p:spPr>
          <p:txBody>
            <a:bodyPr anchor="ctr" rtlCol="false" tIns="50800" lIns="50800" bIns="50800" rIns="50800"/>
            <a:lstStyle/>
            <a:p>
              <a:pPr algn="ctr">
                <a:lnSpc>
                  <a:spcPts val="3077"/>
                </a:lnSpc>
              </a:pPr>
            </a:p>
          </p:txBody>
        </p:sp>
      </p:grpSp>
      <p:grpSp>
        <p:nvGrpSpPr>
          <p:cNvPr name="Group 10" id="10"/>
          <p:cNvGrpSpPr/>
          <p:nvPr/>
        </p:nvGrpSpPr>
        <p:grpSpPr>
          <a:xfrm rot="0">
            <a:off x="8343555" y="2708418"/>
            <a:ext cx="391160" cy="39116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a:lnSpc>
                  <a:spcPts val="3077"/>
                </a:lnSpc>
              </a:pPr>
            </a:p>
          </p:txBody>
        </p:sp>
      </p:grpSp>
      <p:sp>
        <p:nvSpPr>
          <p:cNvPr name="TextBox 13" id="13"/>
          <p:cNvSpPr txBox="true"/>
          <p:nvPr/>
        </p:nvSpPr>
        <p:spPr>
          <a:xfrm rot="0">
            <a:off x="9219181" y="1541225"/>
            <a:ext cx="8202260" cy="701675"/>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Definición del proyecto APT: alcance, objetivos, metodología y plan de trabajo.</a:t>
            </a:r>
          </a:p>
        </p:txBody>
      </p:sp>
      <p:sp>
        <p:nvSpPr>
          <p:cNvPr name="TextBox 14" id="14"/>
          <p:cNvSpPr txBox="true"/>
          <p:nvPr/>
        </p:nvSpPr>
        <p:spPr>
          <a:xfrm rot="0">
            <a:off x="9219181" y="971564"/>
            <a:ext cx="8040119"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SEMANAS 1 A 4</a:t>
            </a:r>
          </a:p>
        </p:txBody>
      </p:sp>
      <p:sp>
        <p:nvSpPr>
          <p:cNvPr name="TextBox 15" id="15"/>
          <p:cNvSpPr txBox="true"/>
          <p:nvPr/>
        </p:nvSpPr>
        <p:spPr>
          <a:xfrm rot="0">
            <a:off x="9219181" y="3220943"/>
            <a:ext cx="8202260" cy="701675"/>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Levantamiento de requisitos con el área contable y diseño de la arquitectura y el modelo de datos.</a:t>
            </a:r>
          </a:p>
        </p:txBody>
      </p:sp>
      <p:sp>
        <p:nvSpPr>
          <p:cNvPr name="TextBox 16" id="16"/>
          <p:cNvSpPr txBox="true"/>
          <p:nvPr/>
        </p:nvSpPr>
        <p:spPr>
          <a:xfrm rot="0">
            <a:off x="9219181" y="2651282"/>
            <a:ext cx="8040119"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SEMANAS 5 A 7</a:t>
            </a:r>
          </a:p>
        </p:txBody>
      </p:sp>
      <p:sp>
        <p:nvSpPr>
          <p:cNvPr name="TextBox 17" id="17"/>
          <p:cNvSpPr txBox="true"/>
          <p:nvPr/>
        </p:nvSpPr>
        <p:spPr>
          <a:xfrm rot="0">
            <a:off x="9219181" y="4900661"/>
            <a:ext cx="8202260" cy="701675"/>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Módulos de extracción del SII y la TGR, base de datos y carga del histórico.</a:t>
            </a:r>
          </a:p>
        </p:txBody>
      </p:sp>
      <p:sp>
        <p:nvSpPr>
          <p:cNvPr name="TextBox 18" id="18"/>
          <p:cNvSpPr txBox="true"/>
          <p:nvPr/>
        </p:nvSpPr>
        <p:spPr>
          <a:xfrm rot="0">
            <a:off x="9219181" y="4331000"/>
            <a:ext cx="8040119"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SEMANAS 7 A 11</a:t>
            </a:r>
          </a:p>
        </p:txBody>
      </p:sp>
      <p:sp>
        <p:nvSpPr>
          <p:cNvPr name="TextBox 19" id="19"/>
          <p:cNvSpPr txBox="true"/>
          <p:nvPr/>
        </p:nvSpPr>
        <p:spPr>
          <a:xfrm rot="0">
            <a:off x="9219181" y="6876907"/>
            <a:ext cx="8202260" cy="701675"/>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Aplicación web de operación y consulta, resguardo cifrado de credenciales y alertas.</a:t>
            </a:r>
          </a:p>
        </p:txBody>
      </p:sp>
      <p:sp>
        <p:nvSpPr>
          <p:cNvPr name="TextBox 20" id="20"/>
          <p:cNvSpPr txBox="true"/>
          <p:nvPr/>
        </p:nvSpPr>
        <p:spPr>
          <a:xfrm rot="0">
            <a:off x="9219181" y="6010718"/>
            <a:ext cx="8202260"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SEMANAS 9 A 13</a:t>
            </a:r>
          </a:p>
        </p:txBody>
      </p:sp>
      <p:sp>
        <p:nvSpPr>
          <p:cNvPr name="TextBox 21" id="21"/>
          <p:cNvSpPr txBox="true"/>
          <p:nvPr/>
        </p:nvSpPr>
        <p:spPr>
          <a:xfrm rot="0">
            <a:off x="9219181" y="8556625"/>
            <a:ext cx="8202260" cy="701675"/>
          </a:xfrm>
          <a:prstGeom prst="rect">
            <a:avLst/>
          </a:prstGeom>
        </p:spPr>
        <p:txBody>
          <a:bodyPr anchor="t" rtlCol="false" tIns="0" lIns="0" bIns="0" rIns="0">
            <a:spAutoFit/>
          </a:bodyPr>
          <a:lstStyle/>
          <a:p>
            <a:pPr algn="l" marL="0" indent="0" lvl="0">
              <a:lnSpc>
                <a:spcPts val="2799"/>
              </a:lnSpc>
              <a:spcBef>
                <a:spcPct val="0"/>
              </a:spcBef>
            </a:pPr>
            <a:r>
              <a:rPr lang="en-US" sz="1999">
                <a:solidFill>
                  <a:srgbClr val="000000"/>
                </a:solidFill>
                <a:latin typeface="Raleway 2"/>
                <a:ea typeface="Raleway 2"/>
                <a:cs typeface="Raleway 2"/>
                <a:sym typeface="Raleway 2"/>
              </a:rPr>
              <a:t>Pruebas integradas, documentación, despliegue y preparación de la presentación a comisión.</a:t>
            </a:r>
          </a:p>
        </p:txBody>
      </p:sp>
      <p:sp>
        <p:nvSpPr>
          <p:cNvPr name="TextBox 22" id="22"/>
          <p:cNvSpPr txBox="true"/>
          <p:nvPr/>
        </p:nvSpPr>
        <p:spPr>
          <a:xfrm rot="0">
            <a:off x="9219181" y="7986963"/>
            <a:ext cx="8202260" cy="448283"/>
          </a:xfrm>
          <a:prstGeom prst="rect">
            <a:avLst/>
          </a:prstGeom>
        </p:spPr>
        <p:txBody>
          <a:bodyPr anchor="t" rtlCol="false" tIns="0" lIns="0" bIns="0" rIns="0">
            <a:spAutoFit/>
          </a:bodyPr>
          <a:lstStyle/>
          <a:p>
            <a:pPr algn="l" marL="0" indent="0" lvl="0">
              <a:lnSpc>
                <a:spcPts val="3640"/>
              </a:lnSpc>
              <a:spcBef>
                <a:spcPct val="0"/>
              </a:spcBef>
            </a:pPr>
            <a:r>
              <a:rPr lang="en-US" b="true" sz="2600" spc="13">
                <a:solidFill>
                  <a:srgbClr val="000000"/>
                </a:solidFill>
                <a:latin typeface="Raleway 1 Bold"/>
                <a:ea typeface="Raleway 1 Bold"/>
                <a:cs typeface="Raleway 1 Bold"/>
                <a:sym typeface="Raleway 1 Bold"/>
              </a:rPr>
              <a:t>SEMANAS 13 A 18</a:t>
            </a:r>
          </a:p>
        </p:txBody>
      </p:sp>
      <p:grpSp>
        <p:nvGrpSpPr>
          <p:cNvPr name="Group 23" id="23"/>
          <p:cNvGrpSpPr/>
          <p:nvPr/>
        </p:nvGrpSpPr>
        <p:grpSpPr>
          <a:xfrm rot="0">
            <a:off x="8343555" y="4388136"/>
            <a:ext cx="391160" cy="39116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5" id="25"/>
            <p:cNvSpPr txBox="true"/>
            <p:nvPr/>
          </p:nvSpPr>
          <p:spPr>
            <a:xfrm>
              <a:off x="76200" y="66675"/>
              <a:ext cx="660400" cy="669925"/>
            </a:xfrm>
            <a:prstGeom prst="rect">
              <a:avLst/>
            </a:prstGeom>
          </p:spPr>
          <p:txBody>
            <a:bodyPr anchor="ctr" rtlCol="false" tIns="50800" lIns="50800" bIns="50800" rIns="50800"/>
            <a:lstStyle/>
            <a:p>
              <a:pPr algn="ctr">
                <a:lnSpc>
                  <a:spcPts val="3077"/>
                </a:lnSpc>
              </a:pPr>
            </a:p>
          </p:txBody>
        </p:sp>
      </p:grpSp>
      <p:grpSp>
        <p:nvGrpSpPr>
          <p:cNvPr name="Group 26" id="26"/>
          <p:cNvGrpSpPr/>
          <p:nvPr/>
        </p:nvGrpSpPr>
        <p:grpSpPr>
          <a:xfrm rot="0">
            <a:off x="8343555" y="6067854"/>
            <a:ext cx="391160" cy="39116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8" id="28"/>
            <p:cNvSpPr txBox="true"/>
            <p:nvPr/>
          </p:nvSpPr>
          <p:spPr>
            <a:xfrm>
              <a:off x="76200" y="66675"/>
              <a:ext cx="660400" cy="669925"/>
            </a:xfrm>
            <a:prstGeom prst="rect">
              <a:avLst/>
            </a:prstGeom>
          </p:spPr>
          <p:txBody>
            <a:bodyPr anchor="ctr" rtlCol="false" tIns="50800" lIns="50800" bIns="50800" rIns="50800"/>
            <a:lstStyle/>
            <a:p>
              <a:pPr algn="ctr">
                <a:lnSpc>
                  <a:spcPts val="3077"/>
                </a:lnSpc>
              </a:pPr>
            </a:p>
          </p:txBody>
        </p:sp>
      </p:grpSp>
      <p:grpSp>
        <p:nvGrpSpPr>
          <p:cNvPr name="Group 29" id="29"/>
          <p:cNvGrpSpPr/>
          <p:nvPr/>
        </p:nvGrpSpPr>
        <p:grpSpPr>
          <a:xfrm rot="0">
            <a:off x="8343555" y="8044100"/>
            <a:ext cx="391160" cy="39116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1" id="31"/>
            <p:cNvSpPr txBox="true"/>
            <p:nvPr/>
          </p:nvSpPr>
          <p:spPr>
            <a:xfrm>
              <a:off x="76200" y="66675"/>
              <a:ext cx="660400" cy="669925"/>
            </a:xfrm>
            <a:prstGeom prst="rect">
              <a:avLst/>
            </a:prstGeom>
          </p:spPr>
          <p:txBody>
            <a:bodyPr anchor="ctr" rtlCol="false" tIns="50800" lIns="50800" bIns="50800" rIns="50800"/>
            <a:lstStyle/>
            <a:p>
              <a:pPr algn="ctr">
                <a:lnSpc>
                  <a:spcPts val="3077"/>
                </a:lnSpc>
              </a:pPr>
            </a:p>
          </p:txBody>
        </p:sp>
      </p:grpSp>
      <p:sp>
        <p:nvSpPr>
          <p:cNvPr name="Titulo910" id="910"/>
          <p:cNvSpPr txBox="true"/>
          <p:nvPr/>
        </p:nvSpPr>
        <p:spPr>
          <a:xfrm rot="0">
            <a:off x="822960" y="548640"/>
            <a:ext cx="2651760" cy="1645920"/>
          </a:xfrm>
          <a:prstGeom prst="rect">
            <a:avLst/>
          </a:prstGeom>
        </p:spPr>
        <p:txBody>
          <a:bodyPr anchor="t" rtlCol="false" tIns="0" lIns="0" bIns="0" rIns="0">
            <a:spAutoFit/>
          </a:bodyPr>
          <a:lstStyle/>
          <a:p>
            <a:pPr algn="l" marL="0" indent="0" lvl="0">
              <a:spcBef>
                <a:spcPct val="0"/>
              </a:spcBef>
            </a:pPr>
            <a:r>
              <a:rPr lang="en-US" b="true" sz="3000" spc="27" u="none">
                <a:solidFill>
                  <a:srgbClr val="FFFFFF"/>
                </a:solidFill>
                <a:latin typeface="Raleway 1 Bold"/>
                <a:ea typeface="Raleway 1 Bold"/>
                <a:cs typeface="Raleway 1 Bold"/>
                <a:sym typeface="Raleway 1 Bold"/>
              </a:rPr>
              <a:t>PLAN DE TRABAJO</a:t>
            </a:r>
          </a:p>
        </p:txBody>
      </p:sp>
      <p:sp>
        <p:nvSpPr>
          <p:cNvPr name="Titulo911" id="911"/>
          <p:cNvSpPr txBox="true"/>
          <p:nvPr/>
        </p:nvSpPr>
        <p:spPr>
          <a:xfrm rot="0">
            <a:off x="822960" y="7772400"/>
            <a:ext cx="4206240" cy="1554480"/>
          </a:xfrm>
          <a:prstGeom prst="rect">
            <a:avLst/>
          </a:prstGeom>
        </p:spPr>
        <p:txBody>
          <a:bodyPr anchor="t" rtlCol="false" tIns="0" lIns="0" bIns="0" rIns="0">
            <a:spAutoFit/>
          </a:bodyPr>
          <a:lstStyle/>
          <a:p>
            <a:pPr algn="l" marL="0" indent="0" lvl="0">
              <a:spcBef>
                <a:spcPct val="0"/>
              </a:spcBef>
            </a:pPr>
            <a:r>
              <a:rPr lang="en-US" b="true" sz="1700" spc="27" u="none">
                <a:solidFill>
                  <a:srgbClr val="FFFFFF"/>
                </a:solidFill>
                <a:latin typeface="Raleway 1 Bold"/>
                <a:ea typeface="Raleway 1 Bold"/>
                <a:cs typeface="Raleway 1 Bold"/>
                <a:sym typeface="Raleway 1 Bold"/>
              </a:rPr>
              <a:t>Evidencias · Avance: requisitos y arquitectura, más bitácora y código. Final: aplicación funcionando en video e informe técnico con manual.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923329">
            <a:off x="9266549" y="-1402179"/>
            <a:ext cx="7327457" cy="13757112"/>
            <a:chOff x="0" y="0"/>
            <a:chExt cx="9769943" cy="18342817"/>
          </a:xfrm>
        </p:grpSpPr>
        <p:pic>
          <p:nvPicPr>
            <p:cNvPr name="Picture 3" id="3"/>
            <p:cNvPicPr>
              <a:picLocks noChangeAspect="true"/>
            </p:cNvPicPr>
            <p:nvPr/>
          </p:nvPicPr>
          <p:blipFill>
            <a:blip r:embed="rId2"/>
            <a:srcRect l="32245" t="0" r="32245" b="0"/>
            <a:stretch>
              <a:fillRect/>
            </a:stretch>
          </p:blipFill>
          <p:spPr>
            <a:xfrm flipH="false" flipV="false">
              <a:off x="0" y="0"/>
              <a:ext cx="9769943" cy="18342817"/>
            </a:xfrm>
            <a:prstGeom prst="rect">
              <a:avLst/>
            </a:prstGeom>
          </p:spPr>
        </p:pic>
      </p:grpSp>
      <p:grpSp>
        <p:nvGrpSpPr>
          <p:cNvPr name="Group 4" id="4"/>
          <p:cNvGrpSpPr/>
          <p:nvPr/>
        </p:nvGrpSpPr>
        <p:grpSpPr>
          <a:xfrm rot="5400000">
            <a:off x="13333728" y="2586781"/>
            <a:ext cx="5032161" cy="5187702"/>
            <a:chOff x="0" y="0"/>
            <a:chExt cx="6709548" cy="6916936"/>
          </a:xfrm>
        </p:grpSpPr>
        <p:sp>
          <p:nvSpPr>
            <p:cNvPr name="AutoShape 5" id="5"/>
            <p:cNvSpPr/>
            <p:nvPr/>
          </p:nvSpPr>
          <p:spPr>
            <a:xfrm>
              <a:off x="0" y="0"/>
              <a:ext cx="6709548" cy="6916936"/>
            </a:xfrm>
            <a:prstGeom prst="rect">
              <a:avLst/>
            </a:prstGeom>
            <a:solidFill>
              <a:srgbClr val="004AAD"/>
            </a:solidFill>
          </p:spPr>
        </p:sp>
      </p:grpSp>
      <p:sp>
        <p:nvSpPr>
          <p:cNvPr name="Freeform 8" id="8"/>
          <p:cNvSpPr/>
          <p:nvPr/>
        </p:nvSpPr>
        <p:spPr>
          <a:xfrm flipH="false" flipV="false" rot="0">
            <a:off x="13884866" y="3588041"/>
            <a:ext cx="3929884" cy="3358265"/>
          </a:xfrm>
          <a:custGeom>
            <a:avLst/>
            <a:gdLst/>
            <a:ahLst/>
            <a:cxnLst/>
            <a:rect r="r" b="b" t="t" l="l"/>
            <a:pathLst>
              <a:path h="3358265" w="3929884">
                <a:moveTo>
                  <a:pt x="0" y="0"/>
                </a:moveTo>
                <a:lnTo>
                  <a:pt x="3929884" y="0"/>
                </a:lnTo>
                <a:lnTo>
                  <a:pt x="3929884" y="3358265"/>
                </a:lnTo>
                <a:lnTo>
                  <a:pt x="0" y="33582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320173" y="4074271"/>
            <a:ext cx="6869535" cy="1580538"/>
          </a:xfrm>
          <a:prstGeom prst="rect">
            <a:avLst/>
          </a:prstGeom>
        </p:spPr>
        <p:txBody>
          <a:bodyPr anchor="t" rtlCol="false" tIns="0" lIns="0" bIns="0" rIns="0">
            <a:spAutoFit/>
          </a:bodyPr>
          <a:lstStyle/>
          <a:p>
            <a:pPr algn="l">
              <a:lnSpc>
                <a:spcPts val="6332"/>
              </a:lnSpc>
            </a:pPr>
            <a:r>
              <a:rPr lang="en-US" b="true" sz="4523" i="true" spc="22">
                <a:solidFill>
                  <a:srgbClr val="000000"/>
                </a:solidFill>
                <a:latin typeface="Raleway 1 Bold Italics"/>
                <a:ea typeface="Raleway 1 Bold Italics"/>
                <a:cs typeface="Raleway 1 Bold Italics"/>
                <a:sym typeface="Raleway 1 Bold Italics"/>
              </a:rPr>
              <a:t>PREGUNTAS</a:t>
            </a:r>
          </a:p>
        </p:txBody>
      </p:sp>
      <p:sp>
        <p:nvSpPr>
          <p:cNvPr name="TextBox 11" id="11"/>
          <p:cNvSpPr txBox="true"/>
          <p:nvPr/>
        </p:nvSpPr>
        <p:spPr>
          <a:xfrm rot="0">
            <a:off x="1320173" y="3578509"/>
            <a:ext cx="6869535" cy="381455"/>
          </a:xfrm>
          <a:prstGeom prst="rect">
            <a:avLst/>
          </a:prstGeom>
        </p:spPr>
        <p:txBody>
          <a:bodyPr anchor="t" rtlCol="false" tIns="0" lIns="0" bIns="0" rIns="0">
            <a:spAutoFit/>
          </a:bodyPr>
          <a:lstStyle/>
          <a:p>
            <a:pPr algn="l">
              <a:lnSpc>
                <a:spcPts val="3077"/>
              </a:lnSpc>
            </a:pPr>
            <a:r>
              <a:rPr lang="en-US" sz="2442" i="true" spc="12">
                <a:solidFill>
                  <a:srgbClr val="000000"/>
                </a:solidFill>
                <a:latin typeface="Libre Baskerville Italics"/>
                <a:ea typeface="Libre Baskerville Italics"/>
                <a:cs typeface="Libre Baskerville Italics"/>
                <a:sym typeface="Libre Baskerville Italics"/>
              </a:rPr>
              <a:t>Portafolio de Título · Fase 1</a:t>
            </a:r>
          </a:p>
        </p:txBody>
      </p:sp>
      <p:sp>
        <p:nvSpPr>
          <p:cNvPr name="TextBox 12" id="12"/>
          <p:cNvSpPr txBox="true"/>
          <p:nvPr/>
        </p:nvSpPr>
        <p:spPr>
          <a:xfrm rot="0">
            <a:off x="1320173" y="7001570"/>
            <a:ext cx="3685526" cy="371475"/>
          </a:xfrm>
          <a:prstGeom prst="rect">
            <a:avLst/>
          </a:prstGeom>
        </p:spPr>
        <p:txBody>
          <a:bodyPr anchor="t" rtlCol="false" tIns="0" lIns="0" bIns="0" rIns="0">
            <a:spAutoFit/>
          </a:bodyPr>
          <a:lstStyle/>
          <a:p>
            <a:pPr algn="l" marL="0" indent="0" lvl="0">
              <a:lnSpc>
                <a:spcPts val="2879"/>
              </a:lnSpc>
              <a:spcBef>
                <a:spcPct val="0"/>
              </a:spcBef>
            </a:pPr>
            <a:r>
              <a:rPr lang="en-US" sz="2399">
                <a:solidFill>
                  <a:srgbClr val="000000"/>
                </a:solidFill>
                <a:latin typeface="Raleway 2"/>
                <a:ea typeface="Raleway 2"/>
                <a:cs typeface="Raleway 2"/>
                <a:sym typeface="Raleway 2"/>
              </a:rPr>
              <a:t>Acceso manual por RUT</a:t>
            </a:r>
          </a:p>
        </p:txBody>
      </p:sp>
      <p:sp>
        <p:nvSpPr>
          <p:cNvPr name="TextBox 13" id="13"/>
          <p:cNvSpPr txBox="true"/>
          <p:nvPr/>
        </p:nvSpPr>
        <p:spPr>
          <a:xfrm rot="0">
            <a:off x="1320173" y="6538888"/>
            <a:ext cx="3464386" cy="337185"/>
          </a:xfrm>
          <a:prstGeom prst="rect">
            <a:avLst/>
          </a:prstGeom>
        </p:spPr>
        <p:txBody>
          <a:bodyPr anchor="t" rtlCol="false" tIns="0" lIns="0" bIns="0" rIns="0">
            <a:spAutoFit/>
          </a:bodyPr>
          <a:lstStyle/>
          <a:p>
            <a:pPr algn="l" marL="0" indent="0" lvl="0">
              <a:lnSpc>
                <a:spcPts val="2400"/>
              </a:lnSpc>
              <a:spcBef>
                <a:spcPct val="0"/>
              </a:spcBef>
            </a:pPr>
            <a:r>
              <a:rPr lang="en-US" b="true" sz="2400">
                <a:solidFill>
                  <a:srgbClr val="000000"/>
                </a:solidFill>
                <a:latin typeface="Raleway 2 Bold"/>
                <a:ea typeface="Raleway 2 Bold"/>
                <a:cs typeface="Raleway 2 Bold"/>
                <a:sym typeface="Raleway 2 Bold"/>
              </a:rPr>
              <a:t>PROBLEMA</a:t>
            </a:r>
          </a:p>
        </p:txBody>
      </p:sp>
      <p:sp>
        <p:nvSpPr>
          <p:cNvPr name="TextBox 14" id="14"/>
          <p:cNvSpPr txBox="true"/>
          <p:nvPr/>
        </p:nvSpPr>
        <p:spPr>
          <a:xfrm rot="0">
            <a:off x="1320173" y="8529802"/>
            <a:ext cx="3599084" cy="371475"/>
          </a:xfrm>
          <a:prstGeom prst="rect">
            <a:avLst/>
          </a:prstGeom>
        </p:spPr>
        <p:txBody>
          <a:bodyPr anchor="t" rtlCol="false" tIns="0" lIns="0" bIns="0" rIns="0">
            <a:spAutoFit/>
          </a:bodyPr>
          <a:lstStyle/>
          <a:p>
            <a:pPr algn="l" marL="0" indent="0" lvl="0">
              <a:lnSpc>
                <a:spcPts val="2879"/>
              </a:lnSpc>
              <a:spcBef>
                <a:spcPct val="0"/>
              </a:spcBef>
            </a:pPr>
            <a:r>
              <a:rPr lang="en-US" sz="2399" u="none">
                <a:solidFill>
                  <a:srgbClr val="000000"/>
                </a:solidFill>
                <a:latin typeface="Raleway 2"/>
                <a:ea typeface="Raleway 2"/>
                <a:cs typeface="Raleway 2"/>
                <a:sym typeface="Raleway 2"/>
              </a:rPr>
              <a:t>12 entidades · SII/TGR</a:t>
            </a:r>
          </a:p>
        </p:txBody>
      </p:sp>
      <p:sp>
        <p:nvSpPr>
          <p:cNvPr name="TextBox 15" id="15"/>
          <p:cNvSpPr txBox="true"/>
          <p:nvPr/>
        </p:nvSpPr>
        <p:spPr>
          <a:xfrm rot="0">
            <a:off x="1320173" y="8030270"/>
            <a:ext cx="3150000" cy="337185"/>
          </a:xfrm>
          <a:prstGeom prst="rect">
            <a:avLst/>
          </a:prstGeom>
        </p:spPr>
        <p:txBody>
          <a:bodyPr anchor="t" rtlCol="false" tIns="0" lIns="0" bIns="0" rIns="0">
            <a:spAutoFit/>
          </a:bodyPr>
          <a:lstStyle/>
          <a:p>
            <a:pPr algn="l" marL="0" indent="0" lvl="0">
              <a:lnSpc>
                <a:spcPts val="2400"/>
              </a:lnSpc>
              <a:spcBef>
                <a:spcPct val="0"/>
              </a:spcBef>
            </a:pPr>
            <a:r>
              <a:rPr lang="en-US" b="true" sz="2400" u="none">
                <a:solidFill>
                  <a:srgbClr val="000000"/>
                </a:solidFill>
                <a:latin typeface="Raleway 2 Bold"/>
                <a:ea typeface="Raleway 2 Bold"/>
                <a:cs typeface="Raleway 2 Bold"/>
                <a:sym typeface="Raleway 2 Bold"/>
              </a:rPr>
              <a:t>ALCANCE</a:t>
            </a:r>
          </a:p>
        </p:txBody>
      </p:sp>
      <p:sp>
        <p:nvSpPr>
          <p:cNvPr name="TextBox 16" id="16"/>
          <p:cNvSpPr txBox="true"/>
          <p:nvPr/>
        </p:nvSpPr>
        <p:spPr>
          <a:xfrm rot="0">
            <a:off x="5627272" y="7001570"/>
            <a:ext cx="3621452" cy="371475"/>
          </a:xfrm>
          <a:prstGeom prst="rect">
            <a:avLst/>
          </a:prstGeom>
        </p:spPr>
        <p:txBody>
          <a:bodyPr anchor="t" rtlCol="false" tIns="0" lIns="0" bIns="0" rIns="0">
            <a:spAutoFit/>
          </a:bodyPr>
          <a:lstStyle/>
          <a:p>
            <a:pPr algn="l" marL="0" indent="0" lvl="0">
              <a:lnSpc>
                <a:spcPts val="2879"/>
              </a:lnSpc>
              <a:spcBef>
                <a:spcPct val="0"/>
              </a:spcBef>
            </a:pPr>
            <a:r>
              <a:rPr lang="en-US" sz="2399">
                <a:solidFill>
                  <a:srgbClr val="000000"/>
                </a:solidFill>
                <a:latin typeface="Raleway 2"/>
                <a:ea typeface="Raleway 2"/>
                <a:cs typeface="Raleway 2"/>
                <a:sym typeface="Raleway 2"/>
              </a:rPr>
              <a:t>Extracción automática</a:t>
            </a:r>
          </a:p>
        </p:txBody>
      </p:sp>
      <p:sp>
        <p:nvSpPr>
          <p:cNvPr name="TextBox 17" id="17"/>
          <p:cNvSpPr txBox="true"/>
          <p:nvPr/>
        </p:nvSpPr>
        <p:spPr>
          <a:xfrm rot="0">
            <a:off x="5627272" y="8563203"/>
            <a:ext cx="3621452" cy="371475"/>
          </a:xfrm>
          <a:prstGeom prst="rect">
            <a:avLst/>
          </a:prstGeom>
        </p:spPr>
        <p:txBody>
          <a:bodyPr anchor="t" rtlCol="false" tIns="0" lIns="0" bIns="0" rIns="0">
            <a:spAutoFit/>
          </a:bodyPr>
          <a:lstStyle/>
          <a:p>
            <a:pPr algn="l" marL="0" indent="0" lvl="0">
              <a:lnSpc>
                <a:spcPts val="2879"/>
              </a:lnSpc>
              <a:spcBef>
                <a:spcPct val="0"/>
              </a:spcBef>
            </a:pPr>
            <a:r>
              <a:rPr lang="en-US" sz="2399" u="none">
                <a:solidFill>
                  <a:srgbClr val="000000"/>
                </a:solidFill>
                <a:latin typeface="Raleway 2"/>
                <a:ea typeface="Raleway 2"/>
                <a:cs typeface="Raleway 2"/>
                <a:sym typeface="Raleway 2"/>
              </a:rPr>
              <a:t>Ponce de León · Gómez</a:t>
            </a:r>
          </a:p>
        </p:txBody>
      </p:sp>
      <p:sp>
        <p:nvSpPr>
          <p:cNvPr name="TextBox 18" id="18"/>
          <p:cNvSpPr txBox="true"/>
          <p:nvPr/>
        </p:nvSpPr>
        <p:spPr>
          <a:xfrm rot="0">
            <a:off x="5627272" y="6538888"/>
            <a:ext cx="3888152" cy="337185"/>
          </a:xfrm>
          <a:prstGeom prst="rect">
            <a:avLst/>
          </a:prstGeom>
        </p:spPr>
        <p:txBody>
          <a:bodyPr anchor="t" rtlCol="false" tIns="0" lIns="0" bIns="0" rIns="0">
            <a:spAutoFit/>
          </a:bodyPr>
          <a:lstStyle/>
          <a:p>
            <a:pPr algn="l" marL="0" indent="0" lvl="0">
              <a:lnSpc>
                <a:spcPts val="2400"/>
              </a:lnSpc>
              <a:spcBef>
                <a:spcPct val="0"/>
              </a:spcBef>
            </a:pPr>
            <a:r>
              <a:rPr lang="en-US" b="true" sz="2400" u="none">
                <a:solidFill>
                  <a:srgbClr val="000000"/>
                </a:solidFill>
                <a:latin typeface="Raleway 2 Bold"/>
                <a:ea typeface="Raleway 2 Bold"/>
                <a:cs typeface="Raleway 2 Bold"/>
                <a:sym typeface="Raleway 2 Bold"/>
              </a:rPr>
              <a:t>SOLUCIÓN</a:t>
            </a:r>
          </a:p>
        </p:txBody>
      </p:sp>
      <p:sp>
        <p:nvSpPr>
          <p:cNvPr name="TextBox 19" id="19"/>
          <p:cNvSpPr txBox="true"/>
          <p:nvPr/>
        </p:nvSpPr>
        <p:spPr>
          <a:xfrm rot="0">
            <a:off x="5627272" y="8063672"/>
            <a:ext cx="3888152" cy="337185"/>
          </a:xfrm>
          <a:prstGeom prst="rect">
            <a:avLst/>
          </a:prstGeom>
        </p:spPr>
        <p:txBody>
          <a:bodyPr anchor="t" rtlCol="false" tIns="0" lIns="0" bIns="0" rIns="0">
            <a:spAutoFit/>
          </a:bodyPr>
          <a:lstStyle/>
          <a:p>
            <a:pPr algn="l" marL="0" indent="0" lvl="0">
              <a:lnSpc>
                <a:spcPts val="2400"/>
              </a:lnSpc>
              <a:spcBef>
                <a:spcPct val="0"/>
              </a:spcBef>
            </a:pPr>
            <a:r>
              <a:rPr lang="en-US" b="true" sz="2400" u="none">
                <a:solidFill>
                  <a:srgbClr val="000000"/>
                </a:solidFill>
                <a:latin typeface="Raleway 2 Bold"/>
                <a:ea typeface="Raleway 2 Bold"/>
                <a:cs typeface="Raleway 2 Bold"/>
                <a:sym typeface="Raleway 2 Bold"/>
              </a:rPr>
              <a:t>EQUIPO</a:t>
            </a:r>
          </a:p>
        </p:txBody>
      </p:sp>
      <p:pic>
        <p:nvPicPr>
          <p:cNvPr id="20" name="Picture 19" descr="logo.png"/>
          <p:cNvPicPr>
            <a:picLocks noChangeAspect="1"/>
          </p:cNvPicPr>
          <p:nvPr/>
        </p:nvPicPr>
        <p:blipFill>
          <a:blip r:embed="rId7"/>
          <a:stretch>
            <a:fillRect/>
          </a:stretch>
        </p:blipFill>
        <p:spPr>
          <a:xfrm>
            <a:off x="1280160" y="914400"/>
            <a:ext cx="3108960" cy="1746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DAHUEVN-ogs</dc:identifier>
  <dcterms:modified xsi:type="dcterms:W3CDTF">2011-08-01T06:04:30Z</dcterms:modified>
  <cp:revision>1</cp:revision>
</cp:coreProperties>
</file>